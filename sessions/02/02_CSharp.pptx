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e4af26a7e045e8" /><Relationship Type="http://schemas.openxmlformats.org/officeDocument/2006/relationships/extended-properties" Target="/docProps/app.xml" Id="R6a79bc07f4cc4252" /><Relationship Type="http://schemas.openxmlformats.org/officeDocument/2006/relationships/officeDocument" Target="/ppt/presentation.xml" Id="R33ab8ec954a14b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73af4643d5499a"/>
  </p:sldMasterIdLst>
  <p:notesMasterIdLst>
    <p:notesMasterId xmlns:r="http://schemas.openxmlformats.org/officeDocument/2006/relationships" r:id="R79cc049e1df04039"/>
  </p:notesMasterIdLst>
  <p:sldIdLst>
    <p:sldId xmlns:r="http://schemas.openxmlformats.org/officeDocument/2006/relationships" id="256" r:id="Re4a186e86c744afe"/>
    <p:sldId xmlns:r="http://schemas.openxmlformats.org/officeDocument/2006/relationships" id="257" r:id="R11c51d88a4f84165"/>
    <p:sldId xmlns:r="http://schemas.openxmlformats.org/officeDocument/2006/relationships" id="258" r:id="R8d013629a05341e7"/>
    <p:sldId xmlns:r="http://schemas.openxmlformats.org/officeDocument/2006/relationships" id="259" r:id="R804d56b7d2d24f4e"/>
    <p:sldId xmlns:r="http://schemas.openxmlformats.org/officeDocument/2006/relationships" id="260" r:id="R918e148adb5a41ca"/>
    <p:sldId xmlns:r="http://schemas.openxmlformats.org/officeDocument/2006/relationships" id="261" r:id="R03f7551b1b48484c"/>
    <p:sldId xmlns:r="http://schemas.openxmlformats.org/officeDocument/2006/relationships" id="262" r:id="Rfe74651335d844e9"/>
    <p:sldId xmlns:r="http://schemas.openxmlformats.org/officeDocument/2006/relationships" id="263" r:id="Rf4c98e1aaf804afb"/>
    <p:sldId xmlns:r="http://schemas.openxmlformats.org/officeDocument/2006/relationships" id="264" r:id="R36cebce58dd74118"/>
    <p:sldId xmlns:r="http://schemas.openxmlformats.org/officeDocument/2006/relationships" id="265" r:id="R23fa28422c7d4d4a"/>
    <p:sldId xmlns:r="http://schemas.openxmlformats.org/officeDocument/2006/relationships" id="266" r:id="Ree94e7b4c6f24f16"/>
    <p:sldId xmlns:r="http://schemas.openxmlformats.org/officeDocument/2006/relationships" id="267" r:id="Rb903f4ee6a8c47a2"/>
    <p:sldId xmlns:r="http://schemas.openxmlformats.org/officeDocument/2006/relationships" id="268" r:id="R9e4bfe3ec5a3474c"/>
    <p:sldId xmlns:r="http://schemas.openxmlformats.org/officeDocument/2006/relationships" id="269" r:id="Rb474a4ef917a440a"/>
    <p:sldId xmlns:r="http://schemas.openxmlformats.org/officeDocument/2006/relationships" id="270" r:id="R0094704892bf4562"/>
    <p:sldId xmlns:r="http://schemas.openxmlformats.org/officeDocument/2006/relationships" id="271" r:id="R47c653ef5436417e"/>
    <p:sldId xmlns:r="http://schemas.openxmlformats.org/officeDocument/2006/relationships" id="272" r:id="R528d2195595a4a2d"/>
    <p:sldId xmlns:r="http://schemas.openxmlformats.org/officeDocument/2006/relationships" id="273" r:id="R17ca77a50cc949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07960a15b843a1" /><Relationship Type="http://schemas.openxmlformats.org/officeDocument/2006/relationships/slideMaster" Target="/ppt/slideMasters/slideMaster1.xml" Id="Ra173af4643d5499a" /><Relationship Type="http://schemas.openxmlformats.org/officeDocument/2006/relationships/notesMaster" Target="/ppt/notesMasters/notesMaster1.xml" Id="R79cc049e1df04039" /><Relationship Type="http://schemas.openxmlformats.org/officeDocument/2006/relationships/presProps" Target="/ppt/presProps.xml" Id="R81e7b51341a74f9b" /><Relationship Type="http://schemas.openxmlformats.org/officeDocument/2006/relationships/tableStyles" Target="/ppt/tableStyles.xml" Id="Rb2e25f80aea4413f" /><Relationship Type="http://schemas.openxmlformats.org/officeDocument/2006/relationships/slide" Target="/ppt/slides/slide1.xml" Id="Re4a186e86c744afe" /><Relationship Type="http://schemas.openxmlformats.org/officeDocument/2006/relationships/slide" Target="/ppt/slides/slide2.xml" Id="R11c51d88a4f84165" /><Relationship Type="http://schemas.openxmlformats.org/officeDocument/2006/relationships/slide" Target="/ppt/slides/slide3.xml" Id="R8d013629a05341e7" /><Relationship Type="http://schemas.openxmlformats.org/officeDocument/2006/relationships/slide" Target="/ppt/slides/slide4.xml" Id="R804d56b7d2d24f4e" /><Relationship Type="http://schemas.openxmlformats.org/officeDocument/2006/relationships/slide" Target="/ppt/slides/slide5.xml" Id="R918e148adb5a41ca" /><Relationship Type="http://schemas.openxmlformats.org/officeDocument/2006/relationships/slide" Target="/ppt/slides/slide6.xml" Id="R03f7551b1b48484c" /><Relationship Type="http://schemas.openxmlformats.org/officeDocument/2006/relationships/slide" Target="/ppt/slides/slide7.xml" Id="Rfe74651335d844e9" /><Relationship Type="http://schemas.openxmlformats.org/officeDocument/2006/relationships/slide" Target="/ppt/slides/slide8.xml" Id="Rf4c98e1aaf804afb" /><Relationship Type="http://schemas.openxmlformats.org/officeDocument/2006/relationships/slide" Target="/ppt/slides/slide9.xml" Id="R36cebce58dd74118" /><Relationship Type="http://schemas.openxmlformats.org/officeDocument/2006/relationships/slide" Target="/ppt/slides/slide10.xml" Id="R23fa28422c7d4d4a" /><Relationship Type="http://schemas.openxmlformats.org/officeDocument/2006/relationships/slide" Target="/ppt/slides/slide11.xml" Id="Ree94e7b4c6f24f16" /><Relationship Type="http://schemas.openxmlformats.org/officeDocument/2006/relationships/slide" Target="/ppt/slides/slide12.xml" Id="Rb903f4ee6a8c47a2" /><Relationship Type="http://schemas.openxmlformats.org/officeDocument/2006/relationships/slide" Target="/ppt/slides/slide13.xml" Id="R9e4bfe3ec5a3474c" /><Relationship Type="http://schemas.openxmlformats.org/officeDocument/2006/relationships/slide" Target="/ppt/slides/slide14.xml" Id="Rb474a4ef917a440a" /><Relationship Type="http://schemas.openxmlformats.org/officeDocument/2006/relationships/slide" Target="/ppt/slides/slide15.xml" Id="R0094704892bf4562" /><Relationship Type="http://schemas.openxmlformats.org/officeDocument/2006/relationships/slide" Target="/ppt/slides/slide16.xml" Id="R47c653ef5436417e" /><Relationship Type="http://schemas.openxmlformats.org/officeDocument/2006/relationships/slide" Target="/ppt/slides/slide17.xml" Id="R528d2195595a4a2d" /><Relationship Type="http://schemas.openxmlformats.org/officeDocument/2006/relationships/slide" Target="/ppt/slides/slide18.xml" Id="R17ca77a50cc949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32c808141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7f4b40c0c1439c" /><Relationship Type="http://schemas.openxmlformats.org/officeDocument/2006/relationships/notesMaster" Target="/ppt/notesMasters/notesMaster1.xml" Id="Re6fd03ee7a6742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25df34f5704091" /><Relationship Type="http://schemas.openxmlformats.org/officeDocument/2006/relationships/notesMaster" Target="/ppt/notesMasters/notesMaster1.xml" Id="R83156ae69c414f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2aa1806aaa4e63" /><Relationship Type="http://schemas.openxmlformats.org/officeDocument/2006/relationships/notesMaster" Target="/ppt/notesMasters/notesMaster1.xml" Id="Ra96204ac2bbc4d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c83f2ff6f34aec" /><Relationship Type="http://schemas.openxmlformats.org/officeDocument/2006/relationships/notesMaster" Target="/ppt/notesMasters/notesMaster1.xml" Id="R1c65ab02eb7b43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7d1ebc4fe14594" /><Relationship Type="http://schemas.openxmlformats.org/officeDocument/2006/relationships/notesMaster" Target="/ppt/notesMasters/notesMaster1.xml" Id="R77922a7d332944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7ae94d7a9440df" /><Relationship Type="http://schemas.openxmlformats.org/officeDocument/2006/relationships/notesMaster" Target="/ppt/notesMasters/notesMaster1.xml" Id="R488360587fa04a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8268ed53c6456b" /><Relationship Type="http://schemas.openxmlformats.org/officeDocument/2006/relationships/notesMaster" Target="/ppt/notesMasters/notesMaster1.xml" Id="R53598d49695647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41513a5ff34ba1" /><Relationship Type="http://schemas.openxmlformats.org/officeDocument/2006/relationships/notesMaster" Target="/ppt/notesMasters/notesMaster1.xml" Id="R140939421e274e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66bc9ed0a3454a" /><Relationship Type="http://schemas.openxmlformats.org/officeDocument/2006/relationships/notesMaster" Target="/ppt/notesMasters/notesMaster1.xml" Id="Rcde466dab9a14e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021541734d4e75" /><Relationship Type="http://schemas.openxmlformats.org/officeDocument/2006/relationships/notesMaster" Target="/ppt/notesMasters/notesMaster1.xml" Id="Rc2e479fbf16b4f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2cf2f0ada846c9" /><Relationship Type="http://schemas.openxmlformats.org/officeDocument/2006/relationships/notesMaster" Target="/ppt/notesMasters/notesMaster1.xml" Id="R5af163b4bf1f4f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ca13f1035e412d" /><Relationship Type="http://schemas.openxmlformats.org/officeDocument/2006/relationships/notesMaster" Target="/ppt/notesMasters/notesMaster1.xml" Id="Rad675f3c902d42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d4608f6472843e3" /><Relationship Type="http://schemas.openxmlformats.org/officeDocument/2006/relationships/notesMaster" Target="/ppt/notesMasters/notesMaster1.xml" Id="R19d380f3834145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f3a46b2a5047d0" /><Relationship Type="http://schemas.openxmlformats.org/officeDocument/2006/relationships/notesMaster" Target="/ppt/notesMasters/notesMaster1.xml" Id="Rf25c84bae5cf47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ba944f06894b80" /><Relationship Type="http://schemas.openxmlformats.org/officeDocument/2006/relationships/notesMaster" Target="/ppt/notesMasters/notesMaster1.xml" Id="R8fb849f9003b4b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ca7150329d4c9d" /><Relationship Type="http://schemas.openxmlformats.org/officeDocument/2006/relationships/notesMaster" Target="/ppt/notesMasters/notesMaster1.xml" Id="Rd61d7e7bb6264a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41f1893890484d" /><Relationship Type="http://schemas.openxmlformats.org/officeDocument/2006/relationships/notesMaster" Target="/ppt/notesMasters/notesMaster1.xml" Id="Re5a9f28861564b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a80ed7335254131" /><Relationship Type="http://schemas.openxmlformats.org/officeDocument/2006/relationships/notesMaster" Target="/ppt/notesMasters/notesMaster1.xml" Id="Re497bad7ea7644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0bb9e7e6c4c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81e482bcc64458" /><Relationship Type="http://schemas.openxmlformats.org/officeDocument/2006/relationships/slideLayout" Target="/ppt/slideLayouts/slideLayout1.xml" Id="R4f92d8c6fe81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92d8c6fe81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f58eafa3949ca" /><Relationship Type="http://schemas.openxmlformats.org/officeDocument/2006/relationships/notesSlide" Target="/ppt/notesSlides/notesSlide1.xml" Id="Rc63ae1e3368745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a86e4b9ba49f9" /><Relationship Type="http://schemas.openxmlformats.org/officeDocument/2006/relationships/notesSlide" Target="/ppt/notesSlides/notesSlide2.xml" Id="R4dd833e7f24842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5bf8e8a49464f" /><Relationship Type="http://schemas.openxmlformats.org/officeDocument/2006/relationships/notesSlide" Target="/ppt/notesSlides/notesSlide3.xml" Id="R9dc8211a19fc47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92ac2ace84209" /><Relationship Type="http://schemas.openxmlformats.org/officeDocument/2006/relationships/notesSlide" Target="/ppt/notesSlides/notesSlide4.xml" Id="R06cb459cea26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ef7ca0b464c74" /><Relationship Type="http://schemas.openxmlformats.org/officeDocument/2006/relationships/notesSlide" Target="/ppt/notesSlides/notesSlide5.xml" Id="R6f9ff519596648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07bb546ce4a25" /><Relationship Type="http://schemas.openxmlformats.org/officeDocument/2006/relationships/notesSlide" Target="/ppt/notesSlides/notesSlide6.xml" Id="Rfeb03e3a3071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369fe531f4dda" /><Relationship Type="http://schemas.openxmlformats.org/officeDocument/2006/relationships/notesSlide" Target="/ppt/notesSlides/notesSlide7.xml" Id="R5df0b5299d4a48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2103261d84281" /><Relationship Type="http://schemas.openxmlformats.org/officeDocument/2006/relationships/notesSlide" Target="/ppt/notesSlides/notesSlide8.xml" Id="R4d40a10287e0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f669e7b694f4a" /><Relationship Type="http://schemas.openxmlformats.org/officeDocument/2006/relationships/notesSlide" Target="/ppt/notesSlides/notesSlide9.xml" Id="R86ee4a36b5d746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a9969c70e4c82" /><Relationship Type="http://schemas.openxmlformats.org/officeDocument/2006/relationships/notesSlide" Target="/ppt/notesSlides/notesSlide10.xml" Id="R06481e477e3c482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786ec40094cf1" /><Relationship Type="http://schemas.openxmlformats.org/officeDocument/2006/relationships/notesSlide" Target="/ppt/notesSlides/notesSlide11.xml" Id="R3ffaaf40d1424c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a8b5c93414af8" /><Relationship Type="http://schemas.openxmlformats.org/officeDocument/2006/relationships/notesSlide" Target="/ppt/notesSlides/notesSlide12.xml" Id="Rabb07c484f3e47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2e35fecbf4246" /><Relationship Type="http://schemas.openxmlformats.org/officeDocument/2006/relationships/notesSlide" Target="/ppt/notesSlides/notesSlide13.xml" Id="R70f782970c3c4d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0512757bb4201" /><Relationship Type="http://schemas.openxmlformats.org/officeDocument/2006/relationships/notesSlide" Target="/ppt/notesSlides/notesSlide14.xml" Id="R115245ac156542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0c0520c69419b" /><Relationship Type="http://schemas.openxmlformats.org/officeDocument/2006/relationships/notesSlide" Target="/ppt/notesSlides/notesSlide15.xml" Id="R3d9464a3c9104e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86a83e9ac4c11" /><Relationship Type="http://schemas.openxmlformats.org/officeDocument/2006/relationships/notesSlide" Target="/ppt/notesSlides/notesSlide16.xml" Id="R3a7b515257e747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e309c3a9b4a28" /><Relationship Type="http://schemas.openxmlformats.org/officeDocument/2006/relationships/notesSlide" Target="/ppt/notesSlides/notesSlide17.xml" Id="Rc9ff3e5713134f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6fc13a0d04cdd" /><Relationship Type="http://schemas.openxmlformats.org/officeDocument/2006/relationships/notesSlide" Target="/ppt/notesSlides/notesSlide18.xml" Id="R547a819d818e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ver-session">
            <a:extLst xmlns:a="http://schemas.openxmlformats.org/drawingml/2006/main">
              <a:ext uri="{FF2B5EF4-FFF2-40B4-BE49-F238E27FC236}">
                <a16:creationId xmlns:a16="http://schemas.microsoft.com/office/drawing/2014/main" id="{556365D0-9465-4E8E-AF25-E68DA672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게임개발 심화반 · 2회차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9C01748-E4E6-4E6C-A06E-360A1F2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840490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1A396A87-132B-480D-BD9E-2FED133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언어란?</a:t>
            </a:r>
          </a:p>
        </p:txBody>
      </p:sp>
      <p:sp>
        <p:nvSpPr>
          <p:cNvPr id="2" name="rule-2">
            <a:extLst xmlns:a="http://schemas.openxmlformats.org/drawingml/2006/main">
              <a:ext uri="{FF2B5EF4-FFF2-40B4-BE49-F238E27FC236}">
                <a16:creationId xmlns:a16="http://schemas.microsoft.com/office/drawing/2014/main" id="{2F1D4C04-9082-4D67-8F82-D13C5E1F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87361865-A177-4DC6-AD38-F625AF5C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what-bullets">
            <a:extLst xmlns:a="http://schemas.openxmlformats.org/drawingml/2006/main">
              <a:ext uri="{FF2B5EF4-FFF2-40B4-BE49-F238E27FC236}">
                <a16:creationId xmlns:a16="http://schemas.microsoft.com/office/drawing/2014/main" id="{4FE9F4A4-62D4-4A53-A906-11F625A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096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마이크로소프트가 만든 프로그래밍 언어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.NET 환경에서 실행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게임, 프로그램, 웹 서버 등을 개발할 수 있음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Unity에서 게임의 동작과 규칙을 작성할 때 사용</a:t>
            </a:r>
          </a:p>
        </p:txBody>
      </p:sp>
      <p:sp>
        <p:nvSpPr>
          <p:cNvPr id="5" name="what-summary">
            <a:extLst xmlns:a="http://schemas.openxmlformats.org/drawingml/2006/main">
              <a:ext uri="{FF2B5EF4-FFF2-40B4-BE49-F238E27FC236}">
                <a16:creationId xmlns:a16="http://schemas.microsoft.com/office/drawing/2014/main" id="{F9B4484E-118F-4787-854B-7B22D05F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C#은 컴퓨터가 해야 할 일과 게임의 규칙을 작성하는 언어다.</a:t>
            </a:r>
          </a:p>
        </p:txBody>
      </p:sp>
    </p:spTree>
    <p:extLst>
      <p:ext uri="{BB962C8B-B14F-4D97-AF65-F5344CB8AC3E}">
        <p14:creationId xmlns:p14="http://schemas.microsoft.com/office/powerpoint/2010/main" val="690740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3">
            <a:extLst xmlns:a="http://schemas.openxmlformats.org/drawingml/2006/main">
              <a:ext uri="{FF2B5EF4-FFF2-40B4-BE49-F238E27FC236}">
                <a16:creationId xmlns:a16="http://schemas.microsoft.com/office/drawing/2014/main" id="{446C76FF-EF77-43D7-8A68-324D6D4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게임에서 C#이 하는 일</a:t>
            </a:r>
          </a:p>
        </p:txBody>
      </p:sp>
      <p:sp>
        <p:nvSpPr>
          <p:cNvPr id="2" name="rule-3">
            <a:extLst xmlns:a="http://schemas.openxmlformats.org/drawingml/2006/main">
              <a:ext uri="{FF2B5EF4-FFF2-40B4-BE49-F238E27FC236}">
                <a16:creationId xmlns:a16="http://schemas.microsoft.com/office/drawing/2014/main" id="{0ED4FA3A-065D-4159-A581-5F3E5C9D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364E65D4-6F54-464E-A012-4E02FB49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role-left">
            <a:extLst xmlns:a="http://schemas.openxmlformats.org/drawingml/2006/main">
              <a:ext uri="{FF2B5EF4-FFF2-40B4-BE49-F238E27FC236}">
                <a16:creationId xmlns:a16="http://schemas.microsoft.com/office/drawing/2014/main" id="{4D9A2025-2C72-4B39-80E2-B313A8BD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플레이어 이동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체력과 공격력 저장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공격과 충돌 처리</a:t>
            </a:r>
          </a:p>
        </p:txBody>
      </p:sp>
      <p:sp>
        <p:nvSpPr>
          <p:cNvPr id="5" name="role-right">
            <a:extLst xmlns:a="http://schemas.openxmlformats.org/drawingml/2006/main">
              <a:ext uri="{FF2B5EF4-FFF2-40B4-BE49-F238E27FC236}">
                <a16:creationId xmlns:a16="http://schemas.microsoft.com/office/drawing/2014/main" id="{750C7064-EBCA-4C2E-A554-BB10169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적 행동 결정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점수와 게임오버 판정</a:t>
            </a:r>
          </a:p>
          <a:p xmlns:a="http://schemas.openxmlformats.org/drawingml/2006/main">
            <a:pPr algn="l">
              <a:def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아이템과 게임 진행</a:t>
            </a:r>
          </a:p>
        </p:txBody>
      </p:sp>
      <p:sp>
        <p:nvSpPr>
          <p:cNvPr id="6" name="role-divider">
            <a:extLst xmlns:a="http://schemas.openxmlformats.org/drawingml/2006/main">
              <a:ext uri="{FF2B5EF4-FFF2-40B4-BE49-F238E27FC236}">
                <a16:creationId xmlns:a16="http://schemas.microsoft.com/office/drawing/2014/main" id="{BFB0F384-5FBA-44B9-B5AC-CF8E6449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57350"/>
            <a:ext cx="9525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le-summary">
            <a:extLst xmlns:a="http://schemas.openxmlformats.org/drawingml/2006/main">
              <a:ext uri="{FF2B5EF4-FFF2-40B4-BE49-F238E27FC236}">
                <a16:creationId xmlns:a16="http://schemas.microsoft.com/office/drawing/2014/main" id="{C250A872-C370-4D67-8D4E-A7B2472F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화면에 있는 오브젝트가 실제 게임처럼 동작하도록 규칙을 연결한다.</a:t>
            </a:r>
          </a:p>
        </p:txBody>
      </p:sp>
    </p:spTree>
    <p:extLst>
      <p:ext uri="{BB962C8B-B14F-4D97-AF65-F5344CB8AC3E}">
        <p14:creationId xmlns:p14="http://schemas.microsoft.com/office/powerpoint/2010/main" val="1882603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98728338-A507-46A9-96EF-B0EE96CE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C와 C#의 차이</a:t>
            </a:r>
          </a:p>
        </p:txBody>
      </p:sp>
      <p:sp>
        <p:nvSpPr>
          <p:cNvPr id="2" name="rule-4">
            <a:extLst xmlns:a="http://schemas.openxmlformats.org/drawingml/2006/main">
              <a:ext uri="{FF2B5EF4-FFF2-40B4-BE49-F238E27FC236}">
                <a16:creationId xmlns:a16="http://schemas.microsoft.com/office/drawing/2014/main" id="{15AAEEB6-4955-4584-9729-9678151C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35BFA61E-0989-45B7-953B-104AF6C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" name="c-head">
            <a:extLst xmlns:a="http://schemas.openxmlformats.org/drawingml/2006/main">
              <a:ext uri="{FF2B5EF4-FFF2-40B4-BE49-F238E27FC236}">
                <a16:creationId xmlns:a16="http://schemas.microsoft.com/office/drawing/2014/main" id="{1B5ACDEB-3946-46E9-97C1-F31AC2A5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5" name="cs-head">
            <a:extLst xmlns:a="http://schemas.openxmlformats.org/drawingml/2006/main">
              <a:ext uri="{FF2B5EF4-FFF2-40B4-BE49-F238E27FC236}">
                <a16:creationId xmlns:a16="http://schemas.microsoft.com/office/drawing/2014/main" id="{1261E0D9-C56F-452D-B723-AB69C7B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62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</a:t>
            </a:r>
          </a:p>
        </p:txBody>
      </p:sp>
      <p:sp>
        <p:nvSpPr>
          <p:cNvPr id="6" name="c-list">
            <a:extLst xmlns:a="http://schemas.openxmlformats.org/drawingml/2006/main">
              <a:ext uri="{FF2B5EF4-FFF2-40B4-BE49-F238E27FC236}">
                <a16:creationId xmlns:a16="http://schemas.microsoft.com/office/drawing/2014/main" id="{E23BA5F4-4688-41C9-A9D4-F0EF4AC0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컴퓨터에 가까운 제어에 강함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메모리를 직접 관리하는 경우가 많음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함수와 구조체 중심으로 작성 가능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운영체제·임베디드 등에 많이 사용</a:t>
            </a:r>
          </a:p>
        </p:txBody>
      </p:sp>
      <p:sp>
        <p:nvSpPr>
          <p:cNvPr id="7" name="cs-list">
            <a:extLst xmlns:a="http://schemas.openxmlformats.org/drawingml/2006/main">
              <a:ext uri="{FF2B5EF4-FFF2-40B4-BE49-F238E27FC236}">
                <a16:creationId xmlns:a16="http://schemas.microsoft.com/office/drawing/2014/main" id="{BCDE47AE-A3EC-48B2-A494-578B10B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프로그램 구조와 기능 개발에 편리함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메모리 관리를 실행 환경이 지원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클래스와 객체를 많이 사용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Unity·데스크톱·웹 등에 많이 사용</a:t>
            </a:r>
          </a:p>
        </p:txBody>
      </p:sp>
      <p:sp>
        <p:nvSpPr>
          <p:cNvPr id="8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A4AA1564-B8D8-4F2C-8AD0-14A622A9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049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-summary">
            <a:extLst xmlns:a="http://schemas.openxmlformats.org/drawingml/2006/main">
              <a:ext uri="{FF2B5EF4-FFF2-40B4-BE49-F238E27FC236}">
                <a16:creationId xmlns:a16="http://schemas.microsoft.com/office/drawing/2014/main" id="{BB4B4057-6074-4143-91AD-EF0A1D5C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04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C#은 C의 상위 버전이 아니라 별도의 언어다.</a:t>
            </a:r>
          </a:p>
        </p:txBody>
      </p:sp>
    </p:spTree>
    <p:extLst>
      <p:ext uri="{BB962C8B-B14F-4D97-AF65-F5344CB8AC3E}">
        <p14:creationId xmlns:p14="http://schemas.microsoft.com/office/powerpoint/2010/main" val="10555767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5">
            <a:extLst xmlns:a="http://schemas.openxmlformats.org/drawingml/2006/main">
              <a:ext uri="{FF2B5EF4-FFF2-40B4-BE49-F238E27FC236}">
                <a16:creationId xmlns:a16="http://schemas.microsoft.com/office/drawing/2014/main" id="{2EDD61D5-0248-4D65-8E8D-BD4669E4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프로그램의 기본 구조</a:t>
            </a:r>
          </a:p>
        </p:txBody>
      </p:sp>
      <p:sp>
        <p:nvSpPr>
          <p:cNvPr id="2" name="rule-5">
            <a:extLst xmlns:a="http://schemas.openxmlformats.org/drawingml/2006/main">
              <a:ext uri="{FF2B5EF4-FFF2-40B4-BE49-F238E27FC236}">
                <a16:creationId xmlns:a16="http://schemas.microsoft.com/office/drawing/2014/main" id="{A52A8A26-C788-419B-BE7C-7207DDD5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04B966F-0B3E-4663-9E7D-B6B46BB8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" name="structure-code">
            <a:extLst xmlns:a="http://schemas.openxmlformats.org/drawingml/2006/main">
              <a:ext uri="{FF2B5EF4-FFF2-40B4-BE49-F238E27FC236}">
                <a16:creationId xmlns:a16="http://schemas.microsoft.com/office/drawing/2014/main" id="{999C5408-6AA2-44CB-81CD-4C6159DB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62865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using System;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Program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static void Main()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Console.WriteLine("Hello, C#");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structure-notes">
            <a:extLst xmlns:a="http://schemas.openxmlformats.org/drawingml/2006/main">
              <a:ext uri="{FF2B5EF4-FFF2-40B4-BE49-F238E27FC236}">
                <a16:creationId xmlns:a16="http://schemas.microsoft.com/office/drawing/2014/main" id="{936A07C1-3ED6-480E-9203-6B11802A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3905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using: 사용할 기능을 가져옴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class: 코드를 묶는 단위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Main: 프로그램이 시작되는 곳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{ } 안에 실행할 코드를 작성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문장 끝에는 ; 사용</a:t>
            </a:r>
          </a:p>
        </p:txBody>
      </p:sp>
    </p:spTree>
    <p:extLst>
      <p:ext uri="{BB962C8B-B14F-4D97-AF65-F5344CB8AC3E}">
        <p14:creationId xmlns:p14="http://schemas.microsoft.com/office/powerpoint/2010/main" val="121101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6">
            <a:extLst xmlns:a="http://schemas.openxmlformats.org/drawingml/2006/main">
              <a:ext uri="{FF2B5EF4-FFF2-40B4-BE49-F238E27FC236}">
                <a16:creationId xmlns:a16="http://schemas.microsoft.com/office/drawing/2014/main" id="{04070D4C-1D94-4178-B266-05E40AA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코드 작성 순서</a:t>
            </a:r>
          </a:p>
        </p:txBody>
      </p:sp>
      <p:sp>
        <p:nvSpPr>
          <p:cNvPr id="2" name="rule-6">
            <a:extLst xmlns:a="http://schemas.openxmlformats.org/drawingml/2006/main">
              <a:ext uri="{FF2B5EF4-FFF2-40B4-BE49-F238E27FC236}">
                <a16:creationId xmlns:a16="http://schemas.microsoft.com/office/drawing/2014/main" id="{DC55299D-AFF8-40FD-9099-FA9EEECC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5B84829E-B2CD-4864-87C2-2AAAE403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" name="flow-num-0">
            <a:extLst xmlns:a="http://schemas.openxmlformats.org/drawingml/2006/main">
              <a:ext uri="{FF2B5EF4-FFF2-40B4-BE49-F238E27FC236}">
                <a16:creationId xmlns:a16="http://schemas.microsoft.com/office/drawing/2014/main" id="{19E40719-C7A4-4BB5-9E28-56FE7532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2959E599-061C-4EC4-817E-BE49BC9E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621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6" name="flow-body-0">
            <a:extLst xmlns:a="http://schemas.openxmlformats.org/drawingml/2006/main">
              <a:ext uri="{FF2B5EF4-FFF2-40B4-BE49-F238E27FC236}">
                <a16:creationId xmlns:a16="http://schemas.microsoft.com/office/drawing/2014/main" id="{6A8EC0F5-2FC7-467F-96FB-8660B60B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62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플레이어가 무엇을 했는가</a:t>
            </a:r>
          </a:p>
        </p:txBody>
      </p:sp>
      <p:sp>
        <p:nvSpPr>
          <p:cNvPr id="7" name="flow-rule-0">
            <a:extLst xmlns:a="http://schemas.openxmlformats.org/drawingml/2006/main">
              <a:ext uri="{FF2B5EF4-FFF2-40B4-BE49-F238E27FC236}">
                <a16:creationId xmlns:a16="http://schemas.microsoft.com/office/drawing/2014/main" id="{7F542B72-6801-411F-A556-A1014A2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717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um-1">
            <a:extLst xmlns:a="http://schemas.openxmlformats.org/drawingml/2006/main">
              <a:ext uri="{FF2B5EF4-FFF2-40B4-BE49-F238E27FC236}">
                <a16:creationId xmlns:a16="http://schemas.microsoft.com/office/drawing/2014/main" id="{A15927D6-AD87-40CB-B5AB-EE417511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AE0094D8-C829-44D9-BF45-F2779EEE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52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상태 변경</a:t>
            </a:r>
          </a:p>
        </p:txBody>
      </p:sp>
      <p:sp>
        <p:nvSpPr>
          <p:cNvPr id="10" name="flow-body-1">
            <a:extLst xmlns:a="http://schemas.openxmlformats.org/drawingml/2006/main">
              <a:ext uri="{FF2B5EF4-FFF2-40B4-BE49-F238E27FC236}">
                <a16:creationId xmlns:a16="http://schemas.microsoft.com/office/drawing/2014/main" id="{348F5D8D-9698-42C3-BA45-5384C705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체력·점수·위치가 어떻게 바뀌는가</a:t>
            </a:r>
          </a:p>
        </p:txBody>
      </p:sp>
      <p:sp>
        <p:nvSpPr>
          <p:cNvPr id="11" name="flow-rule-1">
            <a:extLst xmlns:a="http://schemas.openxmlformats.org/drawingml/2006/main">
              <a:ext uri="{FF2B5EF4-FFF2-40B4-BE49-F238E27FC236}">
                <a16:creationId xmlns:a16="http://schemas.microsoft.com/office/drawing/2014/main" id="{0876DA18-758B-4D76-8385-52456808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623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num-2">
            <a:extLst xmlns:a="http://schemas.openxmlformats.org/drawingml/2006/main">
              <a:ext uri="{FF2B5EF4-FFF2-40B4-BE49-F238E27FC236}">
                <a16:creationId xmlns:a16="http://schemas.microsoft.com/office/drawing/2014/main" id="{B3723A2F-61F8-4222-BD6D-7153C00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8D5A5B5B-B0E9-4F5D-ABC6-F761A5F3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543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규칙 판단</a:t>
            </a:r>
          </a:p>
        </p:txBody>
      </p:sp>
      <p:sp>
        <p:nvSpPr>
          <p:cNvPr id="1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6872EC1D-43DC-438C-8A33-4E5D68F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433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승리·사망·공격 가능 여부</a:t>
            </a:r>
          </a:p>
        </p:txBody>
      </p:sp>
      <p:sp>
        <p:nvSpPr>
          <p:cNvPr id="15" name="flow-rule-2">
            <a:extLst xmlns:a="http://schemas.openxmlformats.org/drawingml/2006/main">
              <a:ext uri="{FF2B5EF4-FFF2-40B4-BE49-F238E27FC236}">
                <a16:creationId xmlns:a16="http://schemas.microsoft.com/office/drawing/2014/main" id="{378C2A38-53E3-453C-8ABF-987136C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529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num-3">
            <a:extLst xmlns:a="http://schemas.openxmlformats.org/drawingml/2006/main">
              <a:ext uri="{FF2B5EF4-FFF2-40B4-BE49-F238E27FC236}">
                <a16:creationId xmlns:a16="http://schemas.microsoft.com/office/drawing/2014/main" id="{ECFC6355-B02F-48C5-BEEA-75064AC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079073EE-FE68-46CF-85EF-24383D04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339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 출력</a:t>
            </a:r>
          </a:p>
        </p:txBody>
      </p:sp>
      <p:sp>
        <p:nvSpPr>
          <p:cNvPr id="18" name="flow-body-3">
            <a:extLst xmlns:a="http://schemas.openxmlformats.org/drawingml/2006/main">
              <a:ext uri="{FF2B5EF4-FFF2-40B4-BE49-F238E27FC236}">
                <a16:creationId xmlns:a16="http://schemas.microsoft.com/office/drawing/2014/main" id="{0F11D9FB-597B-4AC6-AA59-032AEE7B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화면에 어떤 결과를 보여줄 것인가</a:t>
            </a:r>
          </a:p>
        </p:txBody>
      </p:sp>
      <p:sp>
        <p:nvSpPr>
          <p:cNvPr id="19" name="flow-example">
            <a:extLst xmlns:a="http://schemas.openxmlformats.org/drawingml/2006/main">
              <a:ext uri="{FF2B5EF4-FFF2-40B4-BE49-F238E27FC236}">
                <a16:creationId xmlns:a16="http://schemas.microsoft.com/office/drawing/2014/main" id="{42C4F435-59D8-4EE9-9DE6-F320B09E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공격 입력 → 몬스터 체력 감소 → 사망 확인 → 남은 체력 출력</a:t>
            </a:r>
          </a:p>
        </p:txBody>
      </p:sp>
    </p:spTree>
    <p:extLst>
      <p:ext uri="{BB962C8B-B14F-4D97-AF65-F5344CB8AC3E}">
        <p14:creationId xmlns:p14="http://schemas.microsoft.com/office/powerpoint/2010/main" val="12112888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7">
            <a:extLst xmlns:a="http://schemas.openxmlformats.org/drawingml/2006/main">
              <a:ext uri="{FF2B5EF4-FFF2-40B4-BE49-F238E27FC236}">
                <a16:creationId xmlns:a16="http://schemas.microsoft.com/office/drawing/2014/main" id="{3D8C194C-A210-4D43-A700-D70D9D5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오늘 사용할 C# 기능</a:t>
            </a:r>
          </a:p>
        </p:txBody>
      </p:sp>
      <p:sp>
        <p:nvSpPr>
          <p:cNvPr id="2" name="rule-7">
            <a:extLst xmlns:a="http://schemas.openxmlformats.org/drawingml/2006/main">
              <a:ext uri="{FF2B5EF4-FFF2-40B4-BE49-F238E27FC236}">
                <a16:creationId xmlns:a16="http://schemas.microsoft.com/office/drawing/2014/main" id="{0E3924A4-9136-4DAF-B2C5-53A5A63A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BD0566B-5A5B-44E9-8688-EA4D9753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" name="feature-role-0">
            <a:extLst xmlns:a="http://schemas.openxmlformats.org/drawingml/2006/main">
              <a:ext uri="{FF2B5EF4-FFF2-40B4-BE49-F238E27FC236}">
                <a16:creationId xmlns:a16="http://schemas.microsoft.com/office/drawing/2014/main" id="{0CEDBA98-5407-4F6D-ADF2-ABCB3E6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값 저장</a:t>
            </a:r>
          </a:p>
        </p:txBody>
      </p:sp>
      <p:sp>
        <p:nvSpPr>
          <p:cNvPr id="5" name="feature-name-0">
            <a:extLst xmlns:a="http://schemas.openxmlformats.org/drawingml/2006/main">
              <a:ext uri="{FF2B5EF4-FFF2-40B4-BE49-F238E27FC236}">
                <a16:creationId xmlns:a16="http://schemas.microsoft.com/office/drawing/2014/main" id="{5821FBF8-B095-4E51-B921-4523249E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04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변수와 자료형</a:t>
            </a:r>
          </a:p>
        </p:txBody>
      </p:sp>
      <p:sp>
        <p:nvSpPr>
          <p:cNvPr id="6" name="feature-role-1">
            <a:extLst xmlns:a="http://schemas.openxmlformats.org/drawingml/2006/main">
              <a:ext uri="{FF2B5EF4-FFF2-40B4-BE49-F238E27FC236}">
                <a16:creationId xmlns:a16="http://schemas.microsoft.com/office/drawing/2014/main" id="{F8E968FD-0367-4E59-A74E-478C85C3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계산</a:t>
            </a:r>
          </a:p>
        </p:txBody>
      </p:sp>
      <p:sp>
        <p:nvSpPr>
          <p:cNvPr id="7" name="feature-name-1">
            <a:extLst xmlns:a="http://schemas.openxmlformats.org/drawingml/2006/main">
              <a:ext uri="{FF2B5EF4-FFF2-40B4-BE49-F238E27FC236}">
                <a16:creationId xmlns:a16="http://schemas.microsoft.com/office/drawing/2014/main" id="{FA90567B-3922-4C29-9B21-45A1CF6A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43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연산자</a:t>
            </a:r>
          </a:p>
        </p:txBody>
      </p:sp>
      <p:sp>
        <p:nvSpPr>
          <p:cNvPr id="8" name="feature-role-2">
            <a:extLst xmlns:a="http://schemas.openxmlformats.org/drawingml/2006/main">
              <a:ext uri="{FF2B5EF4-FFF2-40B4-BE49-F238E27FC236}">
                <a16:creationId xmlns:a16="http://schemas.microsoft.com/office/drawing/2014/main" id="{FDFBD4F1-30A1-4F8C-ACCB-D5F361E7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선택</a:t>
            </a:r>
          </a:p>
        </p:txBody>
      </p:sp>
      <p:sp>
        <p:nvSpPr>
          <p:cNvPr id="9" name="feature-name-2">
            <a:extLst xmlns:a="http://schemas.openxmlformats.org/drawingml/2006/main">
              <a:ext uri="{FF2B5EF4-FFF2-40B4-BE49-F238E27FC236}">
                <a16:creationId xmlns:a16="http://schemas.microsoft.com/office/drawing/2014/main" id="{C63769BB-B276-419B-AE2A-2A86BA8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81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if · else · switch</a:t>
            </a:r>
          </a:p>
        </p:txBody>
      </p:sp>
      <p:sp>
        <p:nvSpPr>
          <p:cNvPr id="10" name="feature-role-3">
            <a:extLst xmlns:a="http://schemas.openxmlformats.org/drawingml/2006/main">
              <a:ext uri="{FF2B5EF4-FFF2-40B4-BE49-F238E27FC236}">
                <a16:creationId xmlns:a16="http://schemas.microsoft.com/office/drawing/2014/main" id="{6C75546B-6A6D-4360-92EE-FCCE1946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반복</a:t>
            </a:r>
          </a:p>
        </p:txBody>
      </p:sp>
      <p:sp>
        <p:nvSpPr>
          <p:cNvPr id="11" name="feature-name-3">
            <a:extLst xmlns:a="http://schemas.openxmlformats.org/drawingml/2006/main">
              <a:ext uri="{FF2B5EF4-FFF2-40B4-BE49-F238E27FC236}">
                <a16:creationId xmlns:a16="http://schemas.microsoft.com/office/drawing/2014/main" id="{D4C8D653-F457-49E0-8FE2-5F284682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19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for · while</a:t>
            </a:r>
          </a:p>
        </p:txBody>
      </p:sp>
      <p:sp>
        <p:nvSpPr>
          <p:cNvPr id="12" name="feature-role-4">
            <a:extLst xmlns:a="http://schemas.openxmlformats.org/drawingml/2006/main">
              <a:ext uri="{FF2B5EF4-FFF2-40B4-BE49-F238E27FC236}">
                <a16:creationId xmlns:a16="http://schemas.microsoft.com/office/drawing/2014/main" id="{3A4DA78B-4C46-4099-8ABE-2C9FF7E4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입력과 출력</a:t>
            </a:r>
          </a:p>
        </p:txBody>
      </p:sp>
      <p:sp>
        <p:nvSpPr>
          <p:cNvPr id="13" name="feature-name-4">
            <a:extLst xmlns:a="http://schemas.openxmlformats.org/drawingml/2006/main">
              <a:ext uri="{FF2B5EF4-FFF2-40B4-BE49-F238E27FC236}">
                <a16:creationId xmlns:a16="http://schemas.microsoft.com/office/drawing/2014/main" id="{CEA9DBA5-598C-48D5-B5F0-5BEB6CEA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Console.ReadLine · WriteLine</a:t>
            </a:r>
          </a:p>
        </p:txBody>
      </p:sp>
      <p:sp>
        <p:nvSpPr>
          <p:cNvPr id="14" name="feature-role-5">
            <a:extLst xmlns:a="http://schemas.openxmlformats.org/drawingml/2006/main">
              <a:ext uri="{FF2B5EF4-FFF2-40B4-BE49-F238E27FC236}">
                <a16:creationId xmlns:a16="http://schemas.microsoft.com/office/drawing/2014/main" id="{30033C0F-0FAD-4AB4-815D-688E9081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코드 분리</a:t>
            </a:r>
          </a:p>
        </p:txBody>
      </p:sp>
      <p:sp>
        <p:nvSpPr>
          <p:cNvPr id="15" name="feature-name-5">
            <a:extLst xmlns:a="http://schemas.openxmlformats.org/drawingml/2006/main">
              <a:ext uri="{FF2B5EF4-FFF2-40B4-BE49-F238E27FC236}">
                <a16:creationId xmlns:a16="http://schemas.microsoft.com/office/drawing/2014/main" id="{D9E665B3-0124-4FC7-BC3B-165FBB31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04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메서드 · 매개변수 · return</a:t>
            </a:r>
          </a:p>
        </p:txBody>
      </p:sp>
      <p:sp>
        <p:nvSpPr>
          <p:cNvPr id="16" name="feature-role-6">
            <a:extLst xmlns:a="http://schemas.openxmlformats.org/drawingml/2006/main">
              <a:ext uri="{FF2B5EF4-FFF2-40B4-BE49-F238E27FC236}">
                <a16:creationId xmlns:a16="http://schemas.microsoft.com/office/drawing/2014/main" id="{242B48D2-6D99-44C4-A17A-F16174B2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여러 값 관리</a:t>
            </a:r>
          </a:p>
        </p:txBody>
      </p:sp>
      <p:sp>
        <p:nvSpPr>
          <p:cNvPr id="17" name="feature-name-6">
            <a:extLst xmlns:a="http://schemas.openxmlformats.org/drawingml/2006/main">
              <a:ext uri="{FF2B5EF4-FFF2-40B4-BE49-F238E27FC236}">
                <a16:creationId xmlns:a16="http://schemas.microsoft.com/office/drawing/2014/main" id="{6AD080F9-FDC8-4ABE-B4EB-61478EE6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배열 · List</a:t>
            </a:r>
          </a:p>
        </p:txBody>
      </p:sp>
      <p:sp>
        <p:nvSpPr>
          <p:cNvPr id="18" name="feature-role-7">
            <a:extLst xmlns:a="http://schemas.openxmlformats.org/drawingml/2006/main">
              <a:ext uri="{FF2B5EF4-FFF2-40B4-BE49-F238E27FC236}">
                <a16:creationId xmlns:a16="http://schemas.microsoft.com/office/drawing/2014/main" id="{F65E27AC-313C-4491-856E-42EB6C3C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데이터와 동작</a:t>
            </a:r>
          </a:p>
        </p:txBody>
      </p:sp>
      <p:sp>
        <p:nvSpPr>
          <p:cNvPr id="19" name="feature-name-7">
            <a:extLst xmlns:a="http://schemas.openxmlformats.org/drawingml/2006/main">
              <a:ext uri="{FF2B5EF4-FFF2-40B4-BE49-F238E27FC236}">
                <a16:creationId xmlns:a16="http://schemas.microsoft.com/office/drawing/2014/main" id="{469E1C99-A854-41D4-AA5C-9B5B58C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클래스 · 객체</a:t>
            </a:r>
          </a:p>
        </p:txBody>
      </p:sp>
      <p:sp>
        <p:nvSpPr>
          <p:cNvPr id="20" name="feature-role-8">
            <a:extLst xmlns:a="http://schemas.openxmlformats.org/drawingml/2006/main">
              <a:ext uri="{FF2B5EF4-FFF2-40B4-BE49-F238E27FC236}">
                <a16:creationId xmlns:a16="http://schemas.microsoft.com/office/drawing/2014/main" id="{568FF5AC-9512-4F06-8A24-9E69B2C5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무작위 결과</a:t>
            </a:r>
          </a:p>
        </p:txBody>
      </p:sp>
      <p:sp>
        <p:nvSpPr>
          <p:cNvPr id="21" name="feature-name-8">
            <a:extLst xmlns:a="http://schemas.openxmlformats.org/drawingml/2006/main">
              <a:ext uri="{FF2B5EF4-FFF2-40B4-BE49-F238E27FC236}">
                <a16:creationId xmlns:a16="http://schemas.microsoft.com/office/drawing/2014/main" id="{B7BF1DA4-82F0-4C42-B78B-A75ABC7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Random</a:t>
            </a:r>
          </a:p>
        </p:txBody>
      </p:sp>
      <p:sp>
        <p:nvSpPr>
          <p:cNvPr id="22" name="feature-divider">
            <a:extLst xmlns:a="http://schemas.openxmlformats.org/drawingml/2006/main">
              <a:ext uri="{FF2B5EF4-FFF2-40B4-BE49-F238E27FC236}">
                <a16:creationId xmlns:a16="http://schemas.microsoft.com/office/drawing/2014/main" id="{0F193404-FE35-4EC1-B200-34C57B43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95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87017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8">
            <a:extLst xmlns:a="http://schemas.openxmlformats.org/drawingml/2006/main">
              <a:ext uri="{FF2B5EF4-FFF2-40B4-BE49-F238E27FC236}">
                <a16:creationId xmlns:a16="http://schemas.microsoft.com/office/drawing/2014/main" id="{82537521-937F-4CFC-94EC-8D6429E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변수와 입력·출력</a:t>
            </a:r>
          </a:p>
        </p:txBody>
      </p:sp>
      <p:sp>
        <p:nvSpPr>
          <p:cNvPr id="2" name="rule-8">
            <a:extLst xmlns:a="http://schemas.openxmlformats.org/drawingml/2006/main">
              <a:ext uri="{FF2B5EF4-FFF2-40B4-BE49-F238E27FC236}">
                <a16:creationId xmlns:a16="http://schemas.microsoft.com/office/drawing/2014/main" id="{BAE4CE66-ECC3-47B7-9456-5EF5490C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C9D82C66-B88B-432F-9C3D-63B24312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" name="var-code">
            <a:extLst xmlns:a="http://schemas.openxmlformats.org/drawingml/2006/main">
              <a:ext uri="{FF2B5EF4-FFF2-40B4-BE49-F238E27FC236}">
                <a16:creationId xmlns:a16="http://schemas.microsoft.com/office/drawing/2014/main" id="{FBDDCA2D-2EBD-46C5-84C1-6D5E127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int hp = 30;</a:t>
            </a:r>
          </a:p>
          <a:p xmlns:a="http://schemas.openxmlformats.org/drawingml/2006/main">
            <a:pPr algn="l"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float speed = 4.5f;</a:t>
            </a:r>
          </a:p>
          <a:p xmlns:a="http://schemas.openxmlformats.org/drawingml/2006/main">
            <a:pPr algn="l"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bool isDead = false;</a:t>
            </a:r>
          </a:p>
          <a:p xmlns:a="http://schemas.openxmlformats.org/drawingml/2006/main">
            <a:pPr algn="l">
              <a:def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string name = "Player";</a:t>
            </a:r>
          </a:p>
        </p:txBody>
      </p:sp>
      <p:sp>
        <p:nvSpPr>
          <p:cNvPr id="5" name="io-code">
            <a:extLst xmlns:a="http://schemas.openxmlformats.org/drawingml/2006/main">
              <a:ext uri="{FF2B5EF4-FFF2-40B4-BE49-F238E27FC236}">
                <a16:creationId xmlns:a16="http://schemas.microsoft.com/office/drawing/2014/main" id="{A77B5D15-6A94-4F00-8109-FEC70597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429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Console.Write("행동을 입력하세요: ");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string input = Console.ReadLine();</a:t>
            </a:r>
          </a:p>
          <a:p xmlns:a="http://schemas.openxmlformats.org/drawingml/2006/main">
            <a:pPr algn="l">
              <a:def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Console.WriteLine($"선택: {input}");</a:t>
            </a:r>
          </a:p>
        </p:txBody>
      </p:sp>
      <p:sp>
        <p:nvSpPr>
          <p:cNvPr id="6" name="var-label">
            <a:extLst xmlns:a="http://schemas.openxmlformats.org/drawingml/2006/main">
              <a:ext uri="{FF2B5EF4-FFF2-40B4-BE49-F238E27FC236}">
                <a16:creationId xmlns:a16="http://schemas.microsoft.com/office/drawing/2014/main" id="{72D9EE85-E3FA-4381-8A3F-EC408F07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자료형에 맞는 값을 변수에 저장한다.</a:t>
            </a:r>
          </a:p>
        </p:txBody>
      </p:sp>
      <p:sp>
        <p:nvSpPr>
          <p:cNvPr id="7" name="io-label">
            <a:extLst xmlns:a="http://schemas.openxmlformats.org/drawingml/2006/main">
              <a:ext uri="{FF2B5EF4-FFF2-40B4-BE49-F238E27FC236}">
                <a16:creationId xmlns:a16="http://schemas.microsoft.com/office/drawing/2014/main" id="{147C31E0-8318-4F99-B9C4-62692CCA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862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입력한 값은 기본적으로 string이다.</a:t>
            </a:r>
          </a:p>
        </p:txBody>
      </p:sp>
      <p:sp>
        <p:nvSpPr>
          <p:cNvPr id="8" name="parse-code">
            <a:extLst xmlns:a="http://schemas.openxmlformats.org/drawingml/2006/main">
              <a:ext uri="{FF2B5EF4-FFF2-40B4-BE49-F238E27FC236}">
                <a16:creationId xmlns:a16="http://schemas.microsoft.com/office/drawing/2014/main" id="{CDB55796-0F4C-4DAB-BF63-6042E6C5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00650"/>
            <a:ext cx="695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int number = int.Parse(Console.ReadLine());</a:t>
            </a:r>
          </a:p>
        </p:txBody>
      </p:sp>
    </p:spTree>
    <p:extLst>
      <p:ext uri="{BB962C8B-B14F-4D97-AF65-F5344CB8AC3E}">
        <p14:creationId xmlns:p14="http://schemas.microsoft.com/office/powerpoint/2010/main" val="243509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9">
            <a:extLst xmlns:a="http://schemas.openxmlformats.org/drawingml/2006/main">
              <a:ext uri="{FF2B5EF4-FFF2-40B4-BE49-F238E27FC236}">
                <a16:creationId xmlns:a16="http://schemas.microsoft.com/office/drawing/2014/main" id="{B9569285-B538-4D7C-9DA3-CF68BF58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조건문과 반복문</a:t>
            </a:r>
          </a:p>
        </p:txBody>
      </p:sp>
      <p:sp>
        <p:nvSpPr>
          <p:cNvPr id="2" name="rule-9">
            <a:extLst xmlns:a="http://schemas.openxmlformats.org/drawingml/2006/main">
              <a:ext uri="{FF2B5EF4-FFF2-40B4-BE49-F238E27FC236}">
                <a16:creationId xmlns:a16="http://schemas.microsoft.com/office/drawing/2014/main" id="{57247104-C668-448A-ABAD-23B3E158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36A4650C-7A4D-4921-98CC-C8521FEA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" name="condition-code">
            <a:extLst xmlns:a="http://schemas.openxmlformats.org/drawingml/2006/main">
              <a:ext uri="{FF2B5EF4-FFF2-40B4-BE49-F238E27FC236}">
                <a16:creationId xmlns:a16="http://schemas.microsoft.com/office/drawing/2014/main" id="{DFCCAABD-3535-4801-9CC7-A57CC8F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53340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if (hp &lt;= 0)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Console.WriteLine("게임 오버");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else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Console.WriteLine($"체력: {hp}");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loop-code">
            <a:extLst xmlns:a="http://schemas.openxmlformats.org/drawingml/2006/main">
              <a:ext uri="{FF2B5EF4-FFF2-40B4-BE49-F238E27FC236}">
                <a16:creationId xmlns:a16="http://schemas.microsoft.com/office/drawing/2014/main" id="{4F95BF48-2FE2-4E15-813F-8C14C1C5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85900"/>
            <a:ext cx="518160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while (monsterHp &gt; 0)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monsterHp -= 5;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for (int i = 0; i &lt; 3; i++)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Console.WriteLine(i);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6" name="condition-label">
            <a:extLst xmlns:a="http://schemas.openxmlformats.org/drawingml/2006/main">
              <a:ext uri="{FF2B5EF4-FFF2-40B4-BE49-F238E27FC236}">
                <a16:creationId xmlns:a16="http://schemas.microsoft.com/office/drawing/2014/main" id="{7A45EDFA-97EA-4693-A917-7D564A8F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조건문: 실행할 코드를 선택</a:t>
            </a:r>
          </a:p>
        </p:txBody>
      </p:sp>
      <p:sp>
        <p:nvSpPr>
          <p:cNvPr id="7" name="loop-label">
            <a:extLst xmlns:a="http://schemas.openxmlformats.org/drawingml/2006/main">
              <a:ext uri="{FF2B5EF4-FFF2-40B4-BE49-F238E27FC236}">
                <a16:creationId xmlns:a16="http://schemas.microsoft.com/office/drawing/2014/main" id="{01748A78-D4CE-4311-B434-FB44817B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67350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반복문: 같은 작업을 반복</a:t>
            </a:r>
          </a:p>
        </p:txBody>
      </p:sp>
    </p:spTree>
    <p:extLst>
      <p:ext uri="{BB962C8B-B14F-4D97-AF65-F5344CB8AC3E}">
        <p14:creationId xmlns:p14="http://schemas.microsoft.com/office/powerpoint/2010/main" val="1869306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0">
            <a:extLst xmlns:a="http://schemas.openxmlformats.org/drawingml/2006/main">
              <a:ext uri="{FF2B5EF4-FFF2-40B4-BE49-F238E27FC236}">
                <a16:creationId xmlns:a16="http://schemas.microsoft.com/office/drawing/2014/main" id="{C152045E-D0F0-48F5-A321-0BF4435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메서드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F5CB4F41-6940-47A7-9C7A-53699B4C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3458DA04-6332-4DD5-B7E2-B4BD3416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method-code">
            <a:extLst xmlns:a="http://schemas.openxmlformats.org/drawingml/2006/main">
              <a:ext uri="{FF2B5EF4-FFF2-40B4-BE49-F238E27FC236}">
                <a16:creationId xmlns:a16="http://schemas.microsoft.com/office/drawing/2014/main" id="{C80787AF-0792-49DD-BB36-A1E87DA4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742950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static int CalculateDamage(int attack, int defense)</a:t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int damage = attack - defense;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(damage &lt; 1)</a:t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damage = 1;</a:t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return damage;</a:t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method-notes">
            <a:extLst xmlns:a="http://schemas.openxmlformats.org/drawingml/2006/main">
              <a:ext uri="{FF2B5EF4-FFF2-40B4-BE49-F238E27FC236}">
                <a16:creationId xmlns:a16="http://schemas.microsoft.com/office/drawing/2014/main" id="{8C77DA21-9AF4-4E71-9913-2A170989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88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매개변수: 메서드가 받는 값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return: 메서드가 돌려주는 값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void: 돌려주는 값이 없음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반복되는 코드를 분리할 때 사용</a:t>
            </a:r>
          </a:p>
        </p:txBody>
      </p:sp>
    </p:spTree>
    <p:extLst>
      <p:ext uri="{BB962C8B-B14F-4D97-AF65-F5344CB8AC3E}">
        <p14:creationId xmlns:p14="http://schemas.microsoft.com/office/powerpoint/2010/main" val="10538323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1">
            <a:extLst xmlns:a="http://schemas.openxmlformats.org/drawingml/2006/main">
              <a:ext uri="{FF2B5EF4-FFF2-40B4-BE49-F238E27FC236}">
                <a16:creationId xmlns:a16="http://schemas.microsoft.com/office/drawing/2014/main" id="{EFA7F95A-00C5-4389-A2F6-CE1AFD7E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List, 클래스, Random</a:t>
            </a:r>
          </a:p>
        </p:txBody>
      </p:sp>
      <p:sp>
        <p:nvSpPr>
          <p:cNvPr id="2" name="rule-11">
            <a:extLst xmlns:a="http://schemas.openxmlformats.org/drawingml/2006/main">
              <a:ext uri="{FF2B5EF4-FFF2-40B4-BE49-F238E27FC236}">
                <a16:creationId xmlns:a16="http://schemas.microsoft.com/office/drawing/2014/main" id="{B8BD18C0-C61E-4B42-B69A-2D85CBA3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F9BBD2B2-822E-48EF-8A6B-084F9D0C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list-code">
            <a:extLst xmlns:a="http://schemas.openxmlformats.org/drawingml/2006/main">
              <a:ext uri="{FF2B5EF4-FFF2-40B4-BE49-F238E27FC236}">
                <a16:creationId xmlns:a16="http://schemas.microsoft.com/office/drawing/2014/main" id="{28E6FDF3-456F-47B3-B0AA-6473AC91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List&lt;string&gt; items = new();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items.Add("Potion");</a:t>
            </a:r>
          </a:p>
        </p:txBody>
      </p:sp>
      <p:sp>
        <p:nvSpPr>
          <p:cNvPr id="5" name="class-code">
            <a:extLst xmlns:a="http://schemas.openxmlformats.org/drawingml/2006/main">
              <a:ext uri="{FF2B5EF4-FFF2-40B4-BE49-F238E27FC236}">
                <a16:creationId xmlns:a16="http://schemas.microsoft.com/office/drawing/2014/main" id="{4746948F-F393-4494-AE06-EAE5343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Monster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Hp = 20;</a:t>
            </a:r>
          </a:p>
          <a:p xmlns:a="http://schemas.openxmlformats.org/drawingml/2006/main">
            <a:pPr algn="l">
              <a:def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6" name="random-code">
            <a:extLst xmlns:a="http://schemas.openxmlformats.org/drawingml/2006/main">
              <a:ext uri="{FF2B5EF4-FFF2-40B4-BE49-F238E27FC236}">
                <a16:creationId xmlns:a16="http://schemas.microsoft.com/office/drawing/2014/main" id="{EFBC7198-805B-49AA-8492-22CA514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43050"/>
            <a:ext cx="3333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Random random = new();</a:t>
            </a:r>
          </a:p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int damage = random.Next(5, 11);</a:t>
            </a:r>
          </a:p>
        </p:txBody>
      </p:sp>
      <p:sp>
        <p:nvSpPr>
          <p:cNvPr id="7" name="list-desc">
            <a:extLst xmlns:a="http://schemas.openxmlformats.org/drawingml/2006/main">
              <a:ext uri="{FF2B5EF4-FFF2-40B4-BE49-F238E27FC236}">
                <a16:creationId xmlns:a16="http://schemas.microsoft.com/office/drawing/2014/main" id="{79438A19-2747-4879-AE3B-2288E8A1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여러 값을 추가·삭제하며 관리</a:t>
            </a:r>
          </a:p>
        </p:txBody>
      </p:sp>
      <p:sp>
        <p:nvSpPr>
          <p:cNvPr id="8" name="class-desc">
            <a:extLst xmlns:a="http://schemas.openxmlformats.org/drawingml/2006/main">
              <a:ext uri="{FF2B5EF4-FFF2-40B4-BE49-F238E27FC236}">
                <a16:creationId xmlns:a16="http://schemas.microsoft.com/office/drawing/2014/main" id="{89CA5009-DC80-48DF-B4EF-B9605438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데이터와 동작을 하나로 묶음</a:t>
            </a:r>
          </a:p>
        </p:txBody>
      </p:sp>
      <p:sp>
        <p:nvSpPr>
          <p:cNvPr id="9" name="random-desc">
            <a:extLst xmlns:a="http://schemas.openxmlformats.org/drawingml/2006/main">
              <a:ext uri="{FF2B5EF4-FFF2-40B4-BE49-F238E27FC236}">
                <a16:creationId xmlns:a16="http://schemas.microsoft.com/office/drawing/2014/main" id="{9B914F18-104E-4B0E-9C65-CEAD1A76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432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지정한 범위에서 무작위 값 생성</a:t>
            </a:r>
          </a:p>
        </p:txBody>
      </p:sp>
      <p:sp>
        <p:nvSpPr>
          <p:cNvPr id="10" name="feature-note">
            <a:extLst xmlns:a="http://schemas.openxmlformats.org/drawingml/2006/main">
              <a:ext uri="{FF2B5EF4-FFF2-40B4-BE49-F238E27FC236}">
                <a16:creationId xmlns:a16="http://schemas.microsoft.com/office/drawing/2014/main" id="{EC7C4813-6214-4E3B-B55E-BA1D0FBF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이 기능들을 하나의 콘솔 게임에서 연결한다.</a:t>
            </a:r>
          </a:p>
        </p:txBody>
      </p:sp>
    </p:spTree>
    <p:extLst>
      <p:ext uri="{BB962C8B-B14F-4D97-AF65-F5344CB8AC3E}">
        <p14:creationId xmlns:p14="http://schemas.microsoft.com/office/powerpoint/2010/main" val="21086887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600EB26E-2169-4021-B1BD-53B3E0DE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예제: 턴제 콘솔 전투 게임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F9D112D7-BEF7-465F-8E33-B8D8AB9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A8090C0E-EB32-4D86-A0EC-9D64F709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game-flow">
            <a:extLst xmlns:a="http://schemas.openxmlformats.org/drawingml/2006/main">
              <a:ext uri="{FF2B5EF4-FFF2-40B4-BE49-F238E27FC236}">
                <a16:creationId xmlns:a16="http://schemas.microsoft.com/office/drawing/2014/main" id="{5BE510D9-5749-4851-865D-806D7668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28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플레이어와 몬스터 객체 생성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 또는 회복 행동 입력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Random으로 피해량 계산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 후 체력과 사망 여부 확인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한쪽이 사망할 때까지 while 반복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승리 또는 게임 오버 출력</a:t>
            </a:r>
          </a:p>
        </p:txBody>
      </p:sp>
      <p:sp>
        <p:nvSpPr>
          <p:cNvPr id="5" name="game-features">
            <a:extLst xmlns:a="http://schemas.openxmlformats.org/drawingml/2006/main">
              <a:ext uri="{FF2B5EF4-FFF2-40B4-BE49-F238E27FC236}">
                <a16:creationId xmlns:a16="http://schemas.microsoft.com/office/drawing/2014/main" id="{8177F10E-AA13-4465-9377-A2BB2554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143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변수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입력·출력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조건문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반복문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메서드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List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클래스와 객체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Random</a:t>
            </a:r>
          </a:p>
        </p:txBody>
      </p:sp>
    </p:spTree>
    <p:extLst>
      <p:ext uri="{BB962C8B-B14F-4D97-AF65-F5344CB8AC3E}">
        <p14:creationId xmlns:p14="http://schemas.microsoft.com/office/powerpoint/2010/main" val="4319863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3">
            <a:extLst xmlns:a="http://schemas.openxmlformats.org/drawingml/2006/main">
              <a:ext uri="{FF2B5EF4-FFF2-40B4-BE49-F238E27FC236}">
                <a16:creationId xmlns:a16="http://schemas.microsoft.com/office/drawing/2014/main" id="{23D42937-6016-4AD7-9EAA-08D141E7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1 — Fighter 클래스</a:t>
            </a:r>
          </a:p>
        </p:txBody>
      </p:sp>
      <p:sp>
        <p:nvSpPr>
          <p:cNvPr id="2" name="rule-13">
            <a:extLst xmlns:a="http://schemas.openxmlformats.org/drawingml/2006/main">
              <a:ext uri="{FF2B5EF4-FFF2-40B4-BE49-F238E27FC236}">
                <a16:creationId xmlns:a16="http://schemas.microsoft.com/office/drawing/2014/main" id="{61B61DB2-7992-4631-9B23-841FCB45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BD786941-1AAF-4983-8FA8-2EEB5BE4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fighter-one">
            <a:extLst xmlns:a="http://schemas.openxmlformats.org/drawingml/2006/main">
              <a:ext uri="{FF2B5EF4-FFF2-40B4-BE49-F238E27FC236}">
                <a16:creationId xmlns:a16="http://schemas.microsoft.com/office/drawing/2014/main" id="{B9A9A234-3162-4A37-9CAF-29CE45A2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78105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using System;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using System.Collections.Generic;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Fighter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string Name;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Hp;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MaxHp;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int Attack;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List&lt;string&gt; Items = new() { "Potion" 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Fighter(string name, int hp, int attack)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Name = name;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Hp = hp;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MaxHp = hp;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Attack = attack;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public bool IsDead()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return Hp &lt;= 0;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fighter-one-notes">
            <a:extLst xmlns:a="http://schemas.openxmlformats.org/drawingml/2006/main">
              <a:ext uri="{FF2B5EF4-FFF2-40B4-BE49-F238E27FC236}">
                <a16:creationId xmlns:a16="http://schemas.microsoft.com/office/drawing/2014/main" id="{5F82A553-72C5-4DCA-BE50-8F29030E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66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필드에 상태 저장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생성자로 처음 값 설정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List에 아이템 저장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IsDead로 사망 여부 확인</a:t>
            </a:r>
          </a:p>
        </p:txBody>
      </p:sp>
    </p:spTree>
    <p:extLst>
      <p:ext uri="{BB962C8B-B14F-4D97-AF65-F5344CB8AC3E}">
        <p14:creationId xmlns:p14="http://schemas.microsoft.com/office/powerpoint/2010/main" val="11046997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4">
            <a:extLst xmlns:a="http://schemas.openxmlformats.org/drawingml/2006/main">
              <a:ext uri="{FF2B5EF4-FFF2-40B4-BE49-F238E27FC236}">
                <a16:creationId xmlns:a16="http://schemas.microsoft.com/office/drawing/2014/main" id="{D8272D56-0013-4676-96B7-D16740EC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2 — Fighter 메서드</a:t>
            </a:r>
          </a:p>
        </p:txBody>
      </p:sp>
      <p:sp>
        <p:nvSpPr>
          <p:cNvPr id="2" name="rule-14">
            <a:extLst xmlns:a="http://schemas.openxmlformats.org/drawingml/2006/main">
              <a:ext uri="{FF2B5EF4-FFF2-40B4-BE49-F238E27FC236}">
                <a16:creationId xmlns:a16="http://schemas.microsoft.com/office/drawing/2014/main" id="{6E0E1E15-07E5-467B-A521-75872017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6B0B5DDF-BCA7-4D41-95C7-DC0BD3F0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fighter-two">
            <a:extLst xmlns:a="http://schemas.openxmlformats.org/drawingml/2006/main">
              <a:ext uri="{FF2B5EF4-FFF2-40B4-BE49-F238E27FC236}">
                <a16:creationId xmlns:a16="http://schemas.microsoft.com/office/drawing/2014/main" id="{3EEEA937-1B5C-4F33-B8D2-AA0D770C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390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public int MakeDamage(Random random)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return random.Next(Attack - 2, Attack + 3);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public void TakeDamage(int damage)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Hp -= damage;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(Hp &lt; 0) Hp = 0;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public bool UsePotion()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(!Items.Contains("Potion")) return false;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Hp += 10;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if (Hp &gt; MaxHp) Hp = MaxHp;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Items.Remove("Potion");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return true;</a:t>
            </a:r>
          </a:p>
          <a:p xmlns:a="http://schemas.openxmlformats.org/drawingml/2006/main">
            <a:pPr algn="l">
              <a:def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fighter-two-notes">
            <a:extLst xmlns:a="http://schemas.openxmlformats.org/drawingml/2006/main">
              <a:ext uri="{FF2B5EF4-FFF2-40B4-BE49-F238E27FC236}">
                <a16:creationId xmlns:a16="http://schemas.microsoft.com/office/drawing/2014/main" id="{B54FBBA6-FFF9-4C6E-BF14-19C238D1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43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피해량을 무작위로 계산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체력이 0보다 작아지지 않게 처리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물약이 있을 때만 사용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최대 체력을 넘지 않게 회복</a:t>
            </a:r>
          </a:p>
        </p:txBody>
      </p:sp>
    </p:spTree>
    <p:extLst>
      <p:ext uri="{BB962C8B-B14F-4D97-AF65-F5344CB8AC3E}">
        <p14:creationId xmlns:p14="http://schemas.microsoft.com/office/powerpoint/2010/main" val="10562700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5">
            <a:extLst xmlns:a="http://schemas.openxmlformats.org/drawingml/2006/main">
              <a:ext uri="{FF2B5EF4-FFF2-40B4-BE49-F238E27FC236}">
                <a16:creationId xmlns:a16="http://schemas.microsoft.com/office/drawing/2014/main" id="{E97EDE4A-ECEC-45D1-A514-699D11D2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3 — 게임 시작과 반복</a:t>
            </a:r>
          </a:p>
        </p:txBody>
      </p:sp>
      <p:sp>
        <p:nvSpPr>
          <p:cNvPr id="2" name="rule-15">
            <a:extLst xmlns:a="http://schemas.openxmlformats.org/drawingml/2006/main">
              <a:ext uri="{FF2B5EF4-FFF2-40B4-BE49-F238E27FC236}">
                <a16:creationId xmlns:a16="http://schemas.microsoft.com/office/drawing/2014/main" id="{3574DBF1-1DD7-453E-83C6-CAB9529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1597D89C-722B-4E5F-BD73-B9A0CA3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main-one">
            <a:extLst xmlns:a="http://schemas.openxmlformats.org/drawingml/2006/main">
              <a:ext uri="{FF2B5EF4-FFF2-40B4-BE49-F238E27FC236}">
                <a16:creationId xmlns:a16="http://schemas.microsoft.com/office/drawing/2014/main" id="{0DB75459-59B4-40C8-B288-354EE248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79057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class Program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static void Main()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Random random = new();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Fighter player = new("Player", 30, 8);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Fighter monster = new("Slime", 25, 6);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while (!player.IsDead() &amp;&amp; !monster.IsDead())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{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Console.WriteLine($"플레이어: {player.Hp}");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Console.WriteLine($"몬스터: {monster.Hp}");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Console.Write("1. 공격  2. 회복: ");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string input = Console.ReadLine();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if (input == "1")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int damage = player.MakeDamage(random);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monster.TakeDamage(damage);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Console.WriteLine($"{damage} 피해");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</p:txBody>
      </p:sp>
      <p:sp>
        <p:nvSpPr>
          <p:cNvPr id="5" name="main-one-notes">
            <a:extLst xmlns:a="http://schemas.openxmlformats.org/drawingml/2006/main">
              <a:ext uri="{FF2B5EF4-FFF2-40B4-BE49-F238E27FC236}">
                <a16:creationId xmlns:a16="http://schemas.microsoft.com/office/drawing/2014/main" id="{923FD055-C267-4E58-BAB4-20A67353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238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객체 생성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while 전투 반복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행동 입력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 처리</a:t>
            </a:r>
          </a:p>
        </p:txBody>
      </p:sp>
    </p:spTree>
    <p:extLst>
      <p:ext uri="{BB962C8B-B14F-4D97-AF65-F5344CB8AC3E}">
        <p14:creationId xmlns:p14="http://schemas.microsoft.com/office/powerpoint/2010/main" val="8527878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6">
            <a:extLst xmlns:a="http://schemas.openxmlformats.org/drawingml/2006/main">
              <a:ext uri="{FF2B5EF4-FFF2-40B4-BE49-F238E27FC236}">
                <a16:creationId xmlns:a16="http://schemas.microsoft.com/office/drawing/2014/main" id="{D2437A44-E9F1-437C-A3A2-61A03E55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코드 4 — 회복, 반격, 결과</a:t>
            </a:r>
          </a:p>
        </p:txBody>
      </p:sp>
      <p:sp>
        <p:nvSpPr>
          <p:cNvPr id="2" name="rule-16">
            <a:extLst xmlns:a="http://schemas.openxmlformats.org/drawingml/2006/main">
              <a:ext uri="{FF2B5EF4-FFF2-40B4-BE49-F238E27FC236}">
                <a16:creationId xmlns:a16="http://schemas.microsoft.com/office/drawing/2014/main" id="{803CC338-991E-4F74-ADB6-FA73322D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6">
            <a:extLst xmlns:a="http://schemas.openxmlformats.org/drawingml/2006/main">
              <a:ext uri="{FF2B5EF4-FFF2-40B4-BE49-F238E27FC236}">
                <a16:creationId xmlns:a16="http://schemas.microsoft.com/office/drawing/2014/main" id="{2BB430A5-4D8C-4A28-8F59-E38C60A8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main-two">
            <a:extLst xmlns:a="http://schemas.openxmlformats.org/drawingml/2006/main">
              <a:ext uri="{FF2B5EF4-FFF2-40B4-BE49-F238E27FC236}">
                <a16:creationId xmlns:a16="http://schemas.microsoft.com/office/drawing/2014/main" id="{E4FF9AD7-620F-4AC4-BA50-22CC3B74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790575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else if (input == "2")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bool used = player.UsePotion();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if (!used) Console.WriteLine("물약이 없습니다.");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else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Console.WriteLine("다시 입력하세요.");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continue;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if (!monster.IsDead())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{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int damage = monster.MakeDamage(random);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player.TakeDamage(damage);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    Console.WriteLine($"몬스터의 {damage} 피해");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    }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if (monster.IsDead()) Console.WriteLine("승리");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    else Console.WriteLine("게임 오버");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main-two-notes">
            <a:extLst xmlns:a="http://schemas.openxmlformats.org/drawingml/2006/main">
              <a:ext uri="{FF2B5EF4-FFF2-40B4-BE49-F238E27FC236}">
                <a16:creationId xmlns:a16="http://schemas.microsoft.com/office/drawing/2014/main" id="{D9948753-F82D-43A1-BAB4-8565501F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238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회복 처리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잘못된 입력 처리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몬스터 반격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반복 종료 후 결과 출력</a:t>
            </a:r>
          </a:p>
        </p:txBody>
      </p:sp>
    </p:spTree>
    <p:extLst>
      <p:ext uri="{BB962C8B-B14F-4D97-AF65-F5344CB8AC3E}">
        <p14:creationId xmlns:p14="http://schemas.microsoft.com/office/powerpoint/2010/main" val="20837147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7">
            <a:extLst xmlns:a="http://schemas.openxmlformats.org/drawingml/2006/main">
              <a:ext uri="{FF2B5EF4-FFF2-40B4-BE49-F238E27FC236}">
                <a16:creationId xmlns:a16="http://schemas.microsoft.com/office/drawing/2014/main" id="{BF925875-BCDA-4CA8-98B5-28026DB9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기능 추가하기</a:t>
            </a:r>
          </a:p>
        </p:txBody>
      </p:sp>
      <p:sp>
        <p:nvSpPr>
          <p:cNvPr id="2" name="rule-17">
            <a:extLst xmlns:a="http://schemas.openxmlformats.org/drawingml/2006/main">
              <a:ext uri="{FF2B5EF4-FFF2-40B4-BE49-F238E27FC236}">
                <a16:creationId xmlns:a16="http://schemas.microsoft.com/office/drawing/2014/main" id="{C3F378AB-21A8-4C74-93D1-1FFA7E9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7">
            <a:extLst xmlns:a="http://schemas.openxmlformats.org/drawingml/2006/main">
              <a:ext uri="{FF2B5EF4-FFF2-40B4-BE49-F238E27FC236}">
                <a16:creationId xmlns:a16="http://schemas.microsoft.com/office/drawing/2014/main" id="{70905552-CD53-4BE5-AFDC-CEB703F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extend-title-0">
            <a:extLst xmlns:a="http://schemas.openxmlformats.org/drawingml/2006/main">
              <a:ext uri="{FF2B5EF4-FFF2-40B4-BE49-F238E27FC236}">
                <a16:creationId xmlns:a16="http://schemas.microsoft.com/office/drawing/2014/main" id="{499061B7-B67C-4593-976D-41BEC4A2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치명타</a:t>
            </a:r>
          </a:p>
        </p:txBody>
      </p:sp>
      <p:sp>
        <p:nvSpPr>
          <p:cNvPr id="5" name="extend-body-0">
            <a:extLst xmlns:a="http://schemas.openxmlformats.org/drawingml/2006/main">
              <a:ext uri="{FF2B5EF4-FFF2-40B4-BE49-F238E27FC236}">
                <a16:creationId xmlns:a16="http://schemas.microsoft.com/office/drawing/2014/main" id="{B628539F-CF69-43EB-9E86-02A6996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66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일정 확률로 피해량 2배</a:t>
            </a:r>
          </a:p>
        </p:txBody>
      </p:sp>
      <p:sp>
        <p:nvSpPr>
          <p:cNvPr id="6" name="extend-rule-0">
            <a:extLst xmlns:a="http://schemas.openxmlformats.org/drawingml/2006/main">
              <a:ext uri="{FF2B5EF4-FFF2-40B4-BE49-F238E27FC236}">
                <a16:creationId xmlns:a16="http://schemas.microsoft.com/office/drawing/2014/main" id="{B4475F40-017A-4A9D-A3FC-1E35377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tend-title-1">
            <a:extLst xmlns:a="http://schemas.openxmlformats.org/drawingml/2006/main">
              <a:ext uri="{FF2B5EF4-FFF2-40B4-BE49-F238E27FC236}">
                <a16:creationId xmlns:a16="http://schemas.microsoft.com/office/drawing/2014/main" id="{BC2AA52F-F608-4E0A-9498-9F4FA852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방어</a:t>
            </a:r>
          </a:p>
        </p:txBody>
      </p:sp>
      <p:sp>
        <p:nvSpPr>
          <p:cNvPr id="8" name="extend-body-1">
            <a:extLst xmlns:a="http://schemas.openxmlformats.org/drawingml/2006/main">
              <a:ext uri="{FF2B5EF4-FFF2-40B4-BE49-F238E27FC236}">
                <a16:creationId xmlns:a16="http://schemas.microsoft.com/office/drawing/2014/main" id="{D6904626-7153-44DB-8A85-58638F36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098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이번 턴에 받는 피해 감소</a:t>
            </a:r>
          </a:p>
        </p:txBody>
      </p:sp>
      <p:sp>
        <p:nvSpPr>
          <p:cNvPr id="9" name="extend-rule-1">
            <a:extLst xmlns:a="http://schemas.openxmlformats.org/drawingml/2006/main">
              <a:ext uri="{FF2B5EF4-FFF2-40B4-BE49-F238E27FC236}">
                <a16:creationId xmlns:a16="http://schemas.microsoft.com/office/drawing/2014/main" id="{05649D87-2A19-4267-8609-8312D8AF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tend-title-2">
            <a:extLst xmlns:a="http://schemas.openxmlformats.org/drawingml/2006/main">
              <a:ext uri="{FF2B5EF4-FFF2-40B4-BE49-F238E27FC236}">
                <a16:creationId xmlns:a16="http://schemas.microsoft.com/office/drawing/2014/main" id="{A968198D-6D2F-4879-8092-2252A287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난이도</a:t>
            </a:r>
          </a:p>
        </p:txBody>
      </p:sp>
      <p:sp>
        <p:nvSpPr>
          <p:cNvPr id="11" name="extend-body-2">
            <a:extLst xmlns:a="http://schemas.openxmlformats.org/drawingml/2006/main">
              <a:ext uri="{FF2B5EF4-FFF2-40B4-BE49-F238E27FC236}">
                <a16:creationId xmlns:a16="http://schemas.microsoft.com/office/drawing/2014/main" id="{321FA2D2-8AAF-41BE-A9D8-3D716967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527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3턴마다 몬스터 공격력 증가</a:t>
            </a:r>
          </a:p>
        </p:txBody>
      </p:sp>
      <p:sp>
        <p:nvSpPr>
          <p:cNvPr id="12" name="extend-rule-2">
            <a:extLst xmlns:a="http://schemas.openxmlformats.org/drawingml/2006/main">
              <a:ext uri="{FF2B5EF4-FFF2-40B4-BE49-F238E27FC236}">
                <a16:creationId xmlns:a16="http://schemas.microsoft.com/office/drawing/2014/main" id="{994C87A0-8EA1-42DB-A082-09AC1BA0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tend-title-3">
            <a:extLst xmlns:a="http://schemas.openxmlformats.org/drawingml/2006/main">
              <a:ext uri="{FF2B5EF4-FFF2-40B4-BE49-F238E27FC236}">
                <a16:creationId xmlns:a16="http://schemas.microsoft.com/office/drawing/2014/main" id="{BA7FB46C-B5A9-42F9-9D1A-75B01597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아이템</a:t>
            </a:r>
          </a:p>
        </p:txBody>
      </p:sp>
      <p:sp>
        <p:nvSpPr>
          <p:cNvPr id="14" name="extend-body-3">
            <a:extLst xmlns:a="http://schemas.openxmlformats.org/drawingml/2006/main">
              <a:ext uri="{FF2B5EF4-FFF2-40B4-BE49-F238E27FC236}">
                <a16:creationId xmlns:a16="http://schemas.microsoft.com/office/drawing/2014/main" id="{428CEE1A-7D07-4AE0-8C2F-62E62535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물약 또는 공격 강화 아이템 추가</a:t>
            </a:r>
          </a:p>
        </p:txBody>
      </p:sp>
      <p:sp>
        <p:nvSpPr>
          <p:cNvPr id="15" name="extend-rule-3">
            <a:extLst xmlns:a="http://schemas.openxmlformats.org/drawingml/2006/main">
              <a:ext uri="{FF2B5EF4-FFF2-40B4-BE49-F238E27FC236}">
                <a16:creationId xmlns:a16="http://schemas.microsoft.com/office/drawing/2014/main" id="{23E7E517-1D35-4F55-9590-72EAFFE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tend-title-4">
            <a:extLst xmlns:a="http://schemas.openxmlformats.org/drawingml/2006/main">
              <a:ext uri="{FF2B5EF4-FFF2-40B4-BE49-F238E27FC236}">
                <a16:creationId xmlns:a16="http://schemas.microsoft.com/office/drawing/2014/main" id="{3EBF52A8-D27B-480F-87CE-8C106818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연속 전투</a:t>
            </a:r>
          </a:p>
        </p:txBody>
      </p:sp>
      <p:sp>
        <p:nvSpPr>
          <p:cNvPr id="17" name="extend-body-4">
            <a:extLst xmlns:a="http://schemas.openxmlformats.org/drawingml/2006/main">
              <a:ext uri="{FF2B5EF4-FFF2-40B4-BE49-F238E27FC236}">
                <a16:creationId xmlns:a16="http://schemas.microsoft.com/office/drawing/2014/main" id="{A9E5D8A3-6931-4F01-AB6D-2D088F0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38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몬스터를 여러 마리 생성</a:t>
            </a:r>
          </a:p>
        </p:txBody>
      </p:sp>
      <p:sp>
        <p:nvSpPr>
          <p:cNvPr id="18" name="extend-rule-4">
            <a:extLst xmlns:a="http://schemas.openxmlformats.org/drawingml/2006/main">
              <a:ext uri="{FF2B5EF4-FFF2-40B4-BE49-F238E27FC236}">
                <a16:creationId xmlns:a16="http://schemas.microsoft.com/office/drawing/2014/main" id="{5D8752FB-D792-43B3-9207-DCC669F0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xtend-title-5">
            <a:extLst xmlns:a="http://schemas.openxmlformats.org/drawingml/2006/main">
              <a:ext uri="{FF2B5EF4-FFF2-40B4-BE49-F238E27FC236}">
                <a16:creationId xmlns:a16="http://schemas.microsoft.com/office/drawing/2014/main" id="{43A2B11C-B9BF-4503-AAB0-39D1C0A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자유 기능</a:t>
            </a:r>
          </a:p>
        </p:txBody>
      </p:sp>
      <p:sp>
        <p:nvSpPr>
          <p:cNvPr id="20" name="extend-body-5">
            <a:extLst xmlns:a="http://schemas.openxmlformats.org/drawingml/2006/main">
              <a:ext uri="{FF2B5EF4-FFF2-40B4-BE49-F238E27FC236}">
                <a16:creationId xmlns:a16="http://schemas.microsoft.com/office/drawing/2014/main" id="{0113AE03-7522-415C-A848-4DE8C2EF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816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원하는 규칙을 직접 설계하고 추가</a:t>
            </a:r>
          </a:p>
        </p:txBody>
      </p:sp>
    </p:spTree>
    <p:extLst>
      <p:ext uri="{BB962C8B-B14F-4D97-AF65-F5344CB8AC3E}">
        <p14:creationId xmlns:p14="http://schemas.microsoft.com/office/powerpoint/2010/main" val="11999008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8">
            <a:extLst xmlns:a="http://schemas.openxmlformats.org/drawingml/2006/main">
              <a:ext uri="{FF2B5EF4-FFF2-40B4-BE49-F238E27FC236}">
                <a16:creationId xmlns:a16="http://schemas.microsoft.com/office/drawing/2014/main" id="{33D82558-2E6B-4D99-97B3-C0B45C2E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Git에 올리기</a:t>
            </a:r>
          </a:p>
        </p:txBody>
      </p:sp>
      <p:sp>
        <p:nvSpPr>
          <p:cNvPr id="2" name="rule-18">
            <a:extLst xmlns:a="http://schemas.openxmlformats.org/drawingml/2006/main">
              <a:ext uri="{FF2B5EF4-FFF2-40B4-BE49-F238E27FC236}">
                <a16:creationId xmlns:a16="http://schemas.microsoft.com/office/drawing/2014/main" id="{44602E1B-FF4D-4597-BD00-9E00999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8">
            <a:extLst xmlns:a="http://schemas.openxmlformats.org/drawingml/2006/main">
              <a:ext uri="{FF2B5EF4-FFF2-40B4-BE49-F238E27FC236}">
                <a16:creationId xmlns:a16="http://schemas.microsoft.com/office/drawing/2014/main" id="{E4A2E0C1-2A89-4ADF-B8A0-65B254D6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865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6666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git-num-0">
            <a:extLst xmlns:a="http://schemas.openxmlformats.org/drawingml/2006/main">
              <a:ext uri="{FF2B5EF4-FFF2-40B4-BE49-F238E27FC236}">
                <a16:creationId xmlns:a16="http://schemas.microsoft.com/office/drawing/2014/main" id="{67F06737-FBBF-4BBD-8603-652D6C15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git-step-0">
            <a:extLst xmlns:a="http://schemas.openxmlformats.org/drawingml/2006/main">
              <a:ext uri="{FF2B5EF4-FFF2-40B4-BE49-F238E27FC236}">
                <a16:creationId xmlns:a16="http://schemas.microsoft.com/office/drawing/2014/main" id="{6B7E88C7-A867-4C77-9143-A2F7CC14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668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개인 브랜치 확인</a:t>
            </a:r>
          </a:p>
        </p:txBody>
      </p:sp>
      <p:sp>
        <p:nvSpPr>
          <p:cNvPr id="6" name="git-rule-0">
            <a:extLst xmlns:a="http://schemas.openxmlformats.org/drawingml/2006/main">
              <a:ext uri="{FF2B5EF4-FFF2-40B4-BE49-F238E27FC236}">
                <a16:creationId xmlns:a16="http://schemas.microsoft.com/office/drawing/2014/main" id="{92FCE789-08BA-4A8B-AC4F-132129D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002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it-num-1">
            <a:extLst xmlns:a="http://schemas.openxmlformats.org/drawingml/2006/main">
              <a:ext uri="{FF2B5EF4-FFF2-40B4-BE49-F238E27FC236}">
                <a16:creationId xmlns:a16="http://schemas.microsoft.com/office/drawing/2014/main" id="{8C6BEB60-0AF9-4616-8C57-CABE02F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git-step-1">
            <a:extLst xmlns:a="http://schemas.openxmlformats.org/drawingml/2006/main">
              <a:ext uri="{FF2B5EF4-FFF2-40B4-BE49-F238E27FC236}">
                <a16:creationId xmlns:a16="http://schemas.microsoft.com/office/drawing/2014/main" id="{568B2D9B-58E7-4BB0-AF32-E7073A6C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47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프로그램 실행 확인</a:t>
            </a:r>
          </a:p>
        </p:txBody>
      </p:sp>
      <p:sp>
        <p:nvSpPr>
          <p:cNvPr id="9" name="git-rule-1">
            <a:extLst xmlns:a="http://schemas.openxmlformats.org/drawingml/2006/main">
              <a:ext uri="{FF2B5EF4-FFF2-40B4-BE49-F238E27FC236}">
                <a16:creationId xmlns:a16="http://schemas.microsoft.com/office/drawing/2014/main" id="{D399D3CC-3F81-4267-9FF5-CD4666C8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813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it-num-2">
            <a:extLst xmlns:a="http://schemas.openxmlformats.org/drawingml/2006/main">
              <a:ext uri="{FF2B5EF4-FFF2-40B4-BE49-F238E27FC236}">
                <a16:creationId xmlns:a16="http://schemas.microsoft.com/office/drawing/2014/main" id="{C3740D12-4338-4172-AD3C-7BFD3FF8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1" name="git-step-2">
            <a:extLst xmlns:a="http://schemas.openxmlformats.org/drawingml/2006/main">
              <a:ext uri="{FF2B5EF4-FFF2-40B4-BE49-F238E27FC236}">
                <a16:creationId xmlns:a16="http://schemas.microsoft.com/office/drawing/2014/main" id="{D9927815-7288-4C58-8238-7469A7D1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289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변경 파일 확인</a:t>
            </a:r>
          </a:p>
        </p:txBody>
      </p:sp>
      <p:sp>
        <p:nvSpPr>
          <p:cNvPr id="12" name="git-rule-2">
            <a:extLst xmlns:a="http://schemas.openxmlformats.org/drawingml/2006/main">
              <a:ext uri="{FF2B5EF4-FFF2-40B4-BE49-F238E27FC236}">
                <a16:creationId xmlns:a16="http://schemas.microsoft.com/office/drawing/2014/main" id="{AA566333-50BD-4953-ABD6-03A0F06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623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it-num-3">
            <a:extLst xmlns:a="http://schemas.openxmlformats.org/drawingml/2006/main">
              <a:ext uri="{FF2B5EF4-FFF2-40B4-BE49-F238E27FC236}">
                <a16:creationId xmlns:a16="http://schemas.microsoft.com/office/drawing/2014/main" id="{6B9D19DC-A29D-447B-A7EF-A00B5EAA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git-step-3">
            <a:extLst xmlns:a="http://schemas.openxmlformats.org/drawingml/2006/main">
              <a:ext uri="{FF2B5EF4-FFF2-40B4-BE49-F238E27FC236}">
                <a16:creationId xmlns:a16="http://schemas.microsoft.com/office/drawing/2014/main" id="{38CAFDEC-3F3C-4B90-9D67-4473296C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10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commit 작성</a:t>
            </a:r>
          </a:p>
        </p:txBody>
      </p:sp>
      <p:sp>
        <p:nvSpPr>
          <p:cNvPr id="15" name="git-rule-3">
            <a:extLst xmlns:a="http://schemas.openxmlformats.org/drawingml/2006/main">
              <a:ext uri="{FF2B5EF4-FFF2-40B4-BE49-F238E27FC236}">
                <a16:creationId xmlns:a16="http://schemas.microsoft.com/office/drawing/2014/main" id="{78BA8B09-9F8E-4F4D-96F6-A734217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4340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it-num-4">
            <a:extLst xmlns:a="http://schemas.openxmlformats.org/drawingml/2006/main">
              <a:ext uri="{FF2B5EF4-FFF2-40B4-BE49-F238E27FC236}">
                <a16:creationId xmlns:a16="http://schemas.microsoft.com/office/drawing/2014/main" id="{C5C2EF41-DC64-482C-8CD0-9B10C73A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3F6F8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git-step-4">
            <a:extLst xmlns:a="http://schemas.openxmlformats.org/drawingml/2006/main">
              <a:ext uri="{FF2B5EF4-FFF2-40B4-BE49-F238E27FC236}">
                <a16:creationId xmlns:a16="http://schemas.microsoft.com/office/drawing/2014/main" id="{56C69C09-876B-40AB-A2E9-0180C36C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원격 저장소로 push</a:t>
            </a:r>
          </a:p>
        </p:txBody>
      </p:sp>
      <p:sp>
        <p:nvSpPr>
          <p:cNvPr id="18" name="git-message">
            <a:extLst xmlns:a="http://schemas.openxmlformats.org/drawingml/2006/main">
              <a:ext uri="{FF2B5EF4-FFF2-40B4-BE49-F238E27FC236}">
                <a16:creationId xmlns:a16="http://schemas.microsoft.com/office/drawing/2014/main" id="{AC7A7B87-F739-4C28-A27D-32A8D4A4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C8C8C8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B2631"/>
                </a:solidFill>
                <a:latin typeface="Cascadia Mono"/>
                <a:ea typeface="Cascadia Mono"/>
                <a:cs typeface="Cascadia Mono"/>
              </a:rPr>
              <a:t>commit: feat: add console battle game</a:t>
            </a:r>
          </a:p>
        </p:txBody>
      </p:sp>
    </p:spTree>
    <p:extLst>
      <p:ext uri="{BB962C8B-B14F-4D97-AF65-F5344CB8AC3E}">
        <p14:creationId xmlns:p14="http://schemas.microsoft.com/office/powerpoint/2010/main" val="1971866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2026-08-28T07:06:28.0870000Z</dcterms:created>
  <dcterms:modified xsi:type="dcterms:W3CDTF">2026-08-28T07:06:28.0870000Z</dcterms:modified>
</coreProperties>
</file>