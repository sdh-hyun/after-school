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f4879b1e064fdb" /><Relationship Type="http://schemas.openxmlformats.org/officeDocument/2006/relationships/extended-properties" Target="/docProps/app.xml" Id="R0a858105784c43a2" /><Relationship Type="http://schemas.openxmlformats.org/officeDocument/2006/relationships/officeDocument" Target="/ppt/presentation.xml" Id="R107a008f095647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79013ec1e44e79"/>
  </p:sldMasterIdLst>
  <p:notesMasterIdLst>
    <p:notesMasterId xmlns:r="http://schemas.openxmlformats.org/officeDocument/2006/relationships" r:id="R93291ed3bb124106"/>
  </p:notesMasterIdLst>
  <p:sldIdLst>
    <p:sldId xmlns:r="http://schemas.openxmlformats.org/officeDocument/2006/relationships" id="256" r:id="Rc0f0da7d460a4ee5"/>
    <p:sldId xmlns:r="http://schemas.openxmlformats.org/officeDocument/2006/relationships" id="257" r:id="Rf239d6672c7f4fd3"/>
    <p:sldId xmlns:r="http://schemas.openxmlformats.org/officeDocument/2006/relationships" id="258" r:id="R4bbdcb9b3bbb4de5"/>
    <p:sldId xmlns:r="http://schemas.openxmlformats.org/officeDocument/2006/relationships" id="259" r:id="R24a09d1765964cfc"/>
    <p:sldId xmlns:r="http://schemas.openxmlformats.org/officeDocument/2006/relationships" id="260" r:id="R9bfc2023621143c8"/>
    <p:sldId xmlns:r="http://schemas.openxmlformats.org/officeDocument/2006/relationships" id="261" r:id="R1fdc7058e01144f5"/>
    <p:sldId xmlns:r="http://schemas.openxmlformats.org/officeDocument/2006/relationships" id="262" r:id="R924256d0123e455d"/>
    <p:sldId xmlns:r="http://schemas.openxmlformats.org/officeDocument/2006/relationships" id="263" r:id="R7cfc2f7cab9144b1"/>
    <p:sldId xmlns:r="http://schemas.openxmlformats.org/officeDocument/2006/relationships" id="264" r:id="R93477e751b8b42b4"/>
    <p:sldId xmlns:r="http://schemas.openxmlformats.org/officeDocument/2006/relationships" id="265" r:id="R2d0cafdee7dc48ea"/>
    <p:sldId xmlns:r="http://schemas.openxmlformats.org/officeDocument/2006/relationships" id="266" r:id="R0206c2c0064e4ab1"/>
    <p:sldId xmlns:r="http://schemas.openxmlformats.org/officeDocument/2006/relationships" id="267" r:id="R167587d6501d4119"/>
    <p:sldId xmlns:r="http://schemas.openxmlformats.org/officeDocument/2006/relationships" id="268" r:id="R8ca661931454487d"/>
    <p:sldId xmlns:r="http://schemas.openxmlformats.org/officeDocument/2006/relationships" id="269" r:id="R06acc92855a44938"/>
    <p:sldId xmlns:r="http://schemas.openxmlformats.org/officeDocument/2006/relationships" id="270" r:id="Raff82e164ab5406d"/>
    <p:sldId xmlns:r="http://schemas.openxmlformats.org/officeDocument/2006/relationships" id="271" r:id="R05931b0ec80a4a0c"/>
    <p:sldId xmlns:r="http://schemas.openxmlformats.org/officeDocument/2006/relationships" id="272" r:id="R785699cdf9ec4e47"/>
    <p:sldId xmlns:r="http://schemas.openxmlformats.org/officeDocument/2006/relationships" id="273" r:id="Rd4bf2de2588a48a9"/>
    <p:sldId xmlns:r="http://schemas.openxmlformats.org/officeDocument/2006/relationships" id="274" r:id="R2f1d77e87bca4e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3965dfe7c44aff" /><Relationship Type="http://schemas.openxmlformats.org/officeDocument/2006/relationships/slideMaster" Target="/ppt/slideMasters/slideMaster1.xml" Id="R7b79013ec1e44e79" /><Relationship Type="http://schemas.openxmlformats.org/officeDocument/2006/relationships/notesMaster" Target="/ppt/notesMasters/notesMaster1.xml" Id="R93291ed3bb124106" /><Relationship Type="http://schemas.openxmlformats.org/officeDocument/2006/relationships/presProps" Target="/ppt/presProps.xml" Id="R183ce19e12954c32" /><Relationship Type="http://schemas.openxmlformats.org/officeDocument/2006/relationships/tableStyles" Target="/ppt/tableStyles.xml" Id="Rc021c8f0c1f847c7" /><Relationship Type="http://schemas.openxmlformats.org/officeDocument/2006/relationships/slide" Target="/ppt/slides/slide1.xml" Id="Rc0f0da7d460a4ee5" /><Relationship Type="http://schemas.openxmlformats.org/officeDocument/2006/relationships/slide" Target="/ppt/slides/slide2.xml" Id="Rf239d6672c7f4fd3" /><Relationship Type="http://schemas.openxmlformats.org/officeDocument/2006/relationships/slide" Target="/ppt/slides/slide3.xml" Id="R4bbdcb9b3bbb4de5" /><Relationship Type="http://schemas.openxmlformats.org/officeDocument/2006/relationships/slide" Target="/ppt/slides/slide4.xml" Id="R24a09d1765964cfc" /><Relationship Type="http://schemas.openxmlformats.org/officeDocument/2006/relationships/slide" Target="/ppt/slides/slide5.xml" Id="R9bfc2023621143c8" /><Relationship Type="http://schemas.openxmlformats.org/officeDocument/2006/relationships/slide" Target="/ppt/slides/slide6.xml" Id="R1fdc7058e01144f5" /><Relationship Type="http://schemas.openxmlformats.org/officeDocument/2006/relationships/slide" Target="/ppt/slides/slide7.xml" Id="R924256d0123e455d" /><Relationship Type="http://schemas.openxmlformats.org/officeDocument/2006/relationships/slide" Target="/ppt/slides/slide8.xml" Id="R7cfc2f7cab9144b1" /><Relationship Type="http://schemas.openxmlformats.org/officeDocument/2006/relationships/slide" Target="/ppt/slides/slide9.xml" Id="R93477e751b8b42b4" /><Relationship Type="http://schemas.openxmlformats.org/officeDocument/2006/relationships/slide" Target="/ppt/slides/slide10.xml" Id="R2d0cafdee7dc48ea" /><Relationship Type="http://schemas.openxmlformats.org/officeDocument/2006/relationships/slide" Target="/ppt/slides/slide11.xml" Id="R0206c2c0064e4ab1" /><Relationship Type="http://schemas.openxmlformats.org/officeDocument/2006/relationships/slide" Target="/ppt/slides/slide12.xml" Id="R167587d6501d4119" /><Relationship Type="http://schemas.openxmlformats.org/officeDocument/2006/relationships/slide" Target="/ppt/slides/slide13.xml" Id="R8ca661931454487d" /><Relationship Type="http://schemas.openxmlformats.org/officeDocument/2006/relationships/slide" Target="/ppt/slides/slide14.xml" Id="R06acc92855a44938" /><Relationship Type="http://schemas.openxmlformats.org/officeDocument/2006/relationships/slide" Target="/ppt/slides/slide15.xml" Id="Raff82e164ab5406d" /><Relationship Type="http://schemas.openxmlformats.org/officeDocument/2006/relationships/slide" Target="/ppt/slides/slide16.xml" Id="R05931b0ec80a4a0c" /><Relationship Type="http://schemas.openxmlformats.org/officeDocument/2006/relationships/slide" Target="/ppt/slides/slide17.xml" Id="R785699cdf9ec4e47" /><Relationship Type="http://schemas.openxmlformats.org/officeDocument/2006/relationships/slide" Target="/ppt/slides/slide18.xml" Id="Rd4bf2de2588a48a9" /><Relationship Type="http://schemas.openxmlformats.org/officeDocument/2006/relationships/slide" Target="/ppt/slides/slide19.xml" Id="R2f1d77e87bca4e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2a8a58edae4f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b5dffd068c402a" /><Relationship Type="http://schemas.openxmlformats.org/officeDocument/2006/relationships/notesMaster" Target="/ppt/notesMasters/notesMaster1.xml" Id="R49a5d425034d4a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1af1fd416041c1" /><Relationship Type="http://schemas.openxmlformats.org/officeDocument/2006/relationships/notesMaster" Target="/ppt/notesMasters/notesMaster1.xml" Id="Rded13e82b3634a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9d80e5fedb459c" /><Relationship Type="http://schemas.openxmlformats.org/officeDocument/2006/relationships/notesMaster" Target="/ppt/notesMasters/notesMaster1.xml" Id="R3649e66370ce43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f50f893c054d00" /><Relationship Type="http://schemas.openxmlformats.org/officeDocument/2006/relationships/notesMaster" Target="/ppt/notesMasters/notesMaster1.xml" Id="R3f72530450b940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d99bcc634f4c55" /><Relationship Type="http://schemas.openxmlformats.org/officeDocument/2006/relationships/notesMaster" Target="/ppt/notesMasters/notesMaster1.xml" Id="R3b1c8ecf147049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79603357c945d8" /><Relationship Type="http://schemas.openxmlformats.org/officeDocument/2006/relationships/notesMaster" Target="/ppt/notesMasters/notesMaster1.xml" Id="R6b03d9f7d1154e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3d97a5c6aa478d" /><Relationship Type="http://schemas.openxmlformats.org/officeDocument/2006/relationships/notesMaster" Target="/ppt/notesMasters/notesMaster1.xml" Id="R8aaab69b83e34c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e8f62fca3046a6" /><Relationship Type="http://schemas.openxmlformats.org/officeDocument/2006/relationships/notesMaster" Target="/ppt/notesMasters/notesMaster1.xml" Id="R835dfea2685744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9e31bff0c54659" /><Relationship Type="http://schemas.openxmlformats.org/officeDocument/2006/relationships/notesMaster" Target="/ppt/notesMasters/notesMaster1.xml" Id="R480b971374124f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ee73587abd4b74" /><Relationship Type="http://schemas.openxmlformats.org/officeDocument/2006/relationships/notesMaster" Target="/ppt/notesMasters/notesMaster1.xml" Id="Rb818536374d443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1a6e49ec6746c5" /><Relationship Type="http://schemas.openxmlformats.org/officeDocument/2006/relationships/notesMaster" Target="/ppt/notesMasters/notesMaster1.xml" Id="Rcd372c23cd6945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944ae9fc1e448c" /><Relationship Type="http://schemas.openxmlformats.org/officeDocument/2006/relationships/notesMaster" Target="/ppt/notesMasters/notesMaster1.xml" Id="R01790ee2f32b4c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d2f008a7094dba" /><Relationship Type="http://schemas.openxmlformats.org/officeDocument/2006/relationships/notesMaster" Target="/ppt/notesMasters/notesMaster1.xml" Id="R3c5b826ea66949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02d5b203484ebd" /><Relationship Type="http://schemas.openxmlformats.org/officeDocument/2006/relationships/notesMaster" Target="/ppt/notesMasters/notesMaster1.xml" Id="Re630255689a142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8ad79421d94bb8" /><Relationship Type="http://schemas.openxmlformats.org/officeDocument/2006/relationships/notesMaster" Target="/ppt/notesMasters/notesMaster1.xml" Id="R1f8a9424d3304e9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515f67fe3648ac" /><Relationship Type="http://schemas.openxmlformats.org/officeDocument/2006/relationships/notesMaster" Target="/ppt/notesMasters/notesMaster1.xml" Id="R76cc3ae6570448d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3522521cf8f4ac8" /><Relationship Type="http://schemas.openxmlformats.org/officeDocument/2006/relationships/notesMaster" Target="/ppt/notesMasters/notesMaster1.xml" Id="Rdf5115887ce0400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2fde5c0521546f7" /><Relationship Type="http://schemas.openxmlformats.org/officeDocument/2006/relationships/notesMaster" Target="/ppt/notesMasters/notesMaster1.xml" Id="R5fe865f7335d4fc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209885a30ee4507" /><Relationship Type="http://schemas.openxmlformats.org/officeDocument/2006/relationships/notesMaster" Target="/ppt/notesMasters/notesMaster1.xml" Id="R6fc951b45b6347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[권장 시간] 2분</a:t>
            </a:r>
          </a:p>
          <a:p xmlns:a="http://schemas.openxmlformats.org/drawingml/2006/main">
            <a:r>
              <a:t>[시작 멘트]</a:t>
            </a:r>
          </a:p>
          <a:p xmlns:a="http://schemas.openxmlformats.org/drawingml/2006/main">
            <a:r>
              <a:t>오늘은 C# 문법을 전부 외우는 시간이 아니다. 게임 규칙을 코드로 옮기는 기본 방식을 익히고, 마지막에는 직접 콘솔 게임을 완성한다.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[먼저 확인]</a:t>
            </a:r>
          </a:p>
          <a:p xmlns:a="http://schemas.openxmlformats.org/drawingml/2006/main">
            <a:r>
              <a:t>Visual Studio 또는 VS Code와 .NET 실행 환경이 켜지는지만 빠르게 확인한다. 설치 문제는 설명 중 붙잡지 말고 별도로 표시해 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질문]</a:t>
            </a:r>
          </a:p>
          <a:p xmlns:a="http://schemas.openxmlformats.org/drawingml/2006/main">
            <a:r>
              <a:t>지난 시간 Git에서 가장 헷갈렸던 것이 commit, branch, push 중 무엇이었는지 손들어 보게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[오늘의 완료선]</a:t>
            </a:r>
          </a:p>
          <a:p xmlns:a="http://schemas.openxmlformats.org/drawingml/2006/main">
            <a:r>
              <a:t>콘솔 전투 게임이 실행되고, 자신이 원하는 기능 하나를 추가한 뒤 개인 브랜치에 push한다.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[다음 연결]</a:t>
            </a:r>
          </a:p>
          <a:p xmlns:a="http://schemas.openxmlformats.org/drawingml/2006/main">
            <a:r>
              <a:t>먼저 우리가 쓰려는 C#이 정확히 어떤 언어인지부터 짚고 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[권장 시간] 4분</a:t>
            </a:r>
          </a:p>
          <a:p xmlns:a="http://schemas.openxmlformats.org/drawingml/2006/main">
            <a:r>
              <a:t>[설명 멘트]</a:t>
            </a:r>
          </a:p>
          <a:p xmlns:a="http://schemas.openxmlformats.org/drawingml/2006/main">
            <a:r>
              <a:t>C#은 마이크로소프트가 만든 범용 프로그래밍 언어이고 .NET 위에서 실행된다. Unity에서는 화면을 그리는 도구 자체라기보다 캐릭터와 게임 규칙이 어떻게 움직일지를 작성하는 역할을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[비유]</a:t>
            </a:r>
          </a:p>
          <a:p xmlns:a="http://schemas.openxmlformats.org/drawingml/2006/main">
            <a:r>
              <a:t>Unity가 무대와 배우를 준비한다면 C#은 배우가 언제 이동하고 공격하고 쓰러질지를 적은 대본에 가깝다.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질문]</a:t>
            </a:r>
          </a:p>
          <a:p xmlns:a="http://schemas.openxmlformats.org/drawingml/2006/main">
            <a:r>
              <a:t>게임에서 숫자로 저장해야 할 값 세 가지를 말해 보게 한다. 예: 체력, 점수, 이동 속도.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[주의]</a:t>
            </a:r>
          </a:p>
          <a:p xmlns:a="http://schemas.openxmlformats.org/drawingml/2006/main">
            <a:r>
              <a:t>‘C#은 Unity 전용 언어’라고 말하지 않는다. 콘솔, 데스크톱, 웹 서버 등에도 사용된다.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[다음 연결]</a:t>
            </a:r>
          </a:p>
          <a:p xmlns:a="http://schemas.openxmlformats.org/drawingml/2006/main">
            <a:r>
              <a:t>그렇다면 실제 게임 안에서는 C#이 어떤 일을 맡는지 사례로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https://learn.microsoft.com/en-us/dotnet/csharp/tour-of-csharp/overview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[권장 시간] 4분</a:t>
            </a:r>
          </a:p>
          <a:p xmlns:a="http://schemas.openxmlformats.org/drawingml/2006/main">
            <a:r>
              <a:t>[설명 멘트]</a:t>
            </a:r>
          </a:p>
          <a:p xmlns:a="http://schemas.openxmlformats.org/drawingml/2006/main">
            <a:r>
              <a:t>화면에 보이는 캐릭터만 있다고 게임이 되지는 않는다. 입력을 받았을 때 이동하고, 공격을 받으면 체력이 줄고, 체력이 0이면 게임 오버가 되는 규칙이 필요하다. 그 규칙을 C#으로 작성한다.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 참여]</a:t>
            </a:r>
          </a:p>
          <a:p xmlns:a="http://schemas.openxmlformats.org/drawingml/2006/main">
            <a:r>
              <a:t>학생들에게 자신이 아는 게임 하나를 고르게 하고, 그 게임에서 코드가 판단해야 할 규칙을 한 가지씩 말하게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[교사가 정리할 말]</a:t>
            </a:r>
          </a:p>
          <a:p xmlns:a="http://schemas.openxmlformats.org/drawingml/2006/main">
            <a:r>
              <a:t>대부분의 게임 코드는 ‘값을 저장하고, 조건을 판단하고, 결과를 바꾸는 일’의 조합이다.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[다음 연결]</a:t>
            </a:r>
          </a:p>
          <a:p xmlns:a="http://schemas.openxmlformats.org/drawingml/2006/main">
            <a:r>
              <a:t>C# 이름 때문에 C와 같은 언어라고 생각하기 쉬우므로 차이를 짚는다.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[권장 시간] 5분</a:t>
            </a:r>
          </a:p>
          <a:p xmlns:a="http://schemas.openxmlformats.org/drawingml/2006/main">
            <a:r>
              <a:t>[설명 멘트]</a:t>
            </a:r>
          </a:p>
          <a:p xmlns:a="http://schemas.openxmlformats.org/drawingml/2006/main">
            <a:r>
              <a:t>C와 C#은 중괄호, 세미콜론, if, for 같은 문법이 닮았지만 서로 별도의 언어다. C는 하드웨어와 메모리에 가까운 제어에 강하고, C#은 .NET의 도움을 받아 프로그램 구조와 기능을 빠르게 만들기 편하다.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[강조]</a:t>
            </a:r>
          </a:p>
          <a:p xmlns:a="http://schemas.openxmlformats.org/drawingml/2006/main">
            <a:r>
              <a:t>C#을 ‘C의 상위 버전’이라고 표현하지 않는다. 이름과 일부 문법이 비슷할 뿐 실행 환경과 주로 사용하는 구조가 다르다.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질문]</a:t>
            </a:r>
          </a:p>
          <a:p xmlns:a="http://schemas.openxmlformats.org/drawingml/2006/main">
            <a:r>
              <a:t>두 언어 모두에서 본 적 있는 기호나 문법을 찾아보게 한다. 예상 답: ;, { }, if, for.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[다음 연결]</a:t>
            </a:r>
          </a:p>
          <a:p xmlns:a="http://schemas.openxmlformats.org/drawingml/2006/main">
            <a:r>
              <a:t>C#에서 특히 자주 쓰는 방식이 클래스와 객체다. 여기까지만 알아야 뒤의 Fighter 코드가 갑자기 느껴지지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https://learn.microsoft.com/en-us/dotnet/csharp/tour-of-csharp/overview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[권장 시간] 7분</a:t>
            </a:r>
          </a:p>
          <a:p xmlns:a="http://schemas.openxmlformats.org/drawingml/2006/main">
            <a:r>
              <a:t>[핵심 한 문장]</a:t>
            </a:r>
          </a:p>
          <a:p xmlns:a="http://schemas.openxmlformats.org/drawingml/2006/main">
            <a:r>
              <a:t>객체지향은 게임 속 대상을 ‘데이터와 기능이 함께 있는 객체’로 표현하는 방식이다.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[설명 순서]</a:t>
            </a:r>
          </a:p>
          <a:p xmlns:a="http://schemas.openxmlformats.org/drawingml/2006/main">
            <a:r>
              <a:t>1. 클래스는 설계도다. Fighter 클래스에는 전투 캐릭터가 가져야 할 체력과 공격 기능을 적는다.</a:t>
            </a:r>
          </a:p>
          <a:p xmlns:a="http://schemas.openxmlformats.org/drawingml/2006/main">
            <a:r>
              <a:t>2. 객체는 그 설계도로 실제로 만든 대상이다. Player와 Slime은 같은 Fighter 설계도로 만들 수 있지만 체력과 공격력은 다를 수 있다.</a:t>
            </a:r>
          </a:p>
          <a:p xmlns:a="http://schemas.openxmlformats.org/drawingml/2006/main">
            <a:r>
              <a:t>3. 필드는 상태다. 이름, 체력, 공격력이 여기에 해당한다.</a:t>
            </a:r>
          </a:p>
          <a:p xmlns:a="http://schemas.openxmlformats.org/drawingml/2006/main">
            <a:r>
              <a:t>4. 메서드는 행동이다. 공격하기, 피해받기, 회복하기가 여기에 해당한다.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[판서 예시]</a:t>
            </a:r>
          </a:p>
          <a:p xmlns:a="http://schemas.openxmlformats.org/drawingml/2006/main">
            <a:r>
              <a:t>Fighter 설계도 → Player 객체 / Slime 객체</a:t>
            </a:r>
          </a:p>
          <a:p xmlns:a="http://schemas.openxmlformats.org/drawingml/2006/main">
            <a:r>
              <a:t>Player: Hp 30, Attack 8</a:t>
            </a:r>
          </a:p>
          <a:p xmlns:a="http://schemas.openxmlformats.org/drawingml/2006/main">
            <a:r>
              <a:t>Slime: Hp 25, Attack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질문]</a:t>
            </a:r>
          </a:p>
          <a:p xmlns:a="http://schemas.openxmlformats.org/drawingml/2006/main">
            <a:r>
              <a:t>Item 클래스를 만든다면 어떤 상태와 행동이 필요할지 하나씩 말하게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[범위 제한]</a:t>
            </a:r>
          </a:p>
          <a:p xmlns:a="http://schemas.openxmlformats.org/drawingml/2006/main">
            <a:r>
              <a:t>오늘은 클래스·객체·상태·행동만 다룬다. 캡슐화, 상속, 다형성은 이름만 언급하거나 아예 넘겨도 된다. 지금 목표는 Fighter 코드를 읽는 것이다.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[다음 연결]</a:t>
            </a:r>
          </a:p>
          <a:p xmlns:a="http://schemas.openxmlformats.org/drawingml/2006/main">
            <a:r>
              <a:t>이제 실제 C# 파일이 어떤 틀로 시작하는지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https://learn.microsoft.com/en-us/dotnet/csharp/fundamentals/tutorials/oop</a:t>
            </a:r>
          </a:p>
          <a:p xmlns:a="http://schemas.openxmlformats.org/drawingml/2006/main">
            <a:r>
              <a:t>- https://learn.microsoft.com/en-us/dotnet/csharp/fundamentals/tutorials/classes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[권장 시간] 5분</a:t>
            </a:r>
          </a:p>
          <a:p xmlns:a="http://schemas.openxmlformats.org/drawingml/2006/main">
            <a:r>
              <a:t>[설명 순서]</a:t>
            </a:r>
          </a:p>
          <a:p xmlns:a="http://schemas.openxmlformats.org/drawingml/2006/main">
            <a:r>
              <a:t>using은 필요한 기능을 가져오는 선언이다. class Program은 코드를 묶는 단위이고, Main은 콘솔 프로그램이 시작되는 지점이다. 중괄호는 코드의 범위를, 세미콜론은 한 문장의 끝을 나타낸다.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[시연]</a:t>
            </a:r>
          </a:p>
          <a:p xmlns:a="http://schemas.openxmlformats.org/drawingml/2006/main">
            <a:r>
              <a:t>Console.WriteLine의 문자열을 학생 이름이나 원하는 문장으로 바꾸고 실행한다. 문장 끝의 세미콜론을 잠깐 지워 오류가 어디에 표시되는지 보여 준 뒤 되돌린다.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[주의]</a:t>
            </a:r>
          </a:p>
          <a:p xmlns:a="http://schemas.openxmlformats.org/drawingml/2006/main">
            <a:r>
              <a:t>최신 C#에서는 더 짧은 작성법도 가능하지만 오늘은 구조를 눈으로 확인하기 쉬운 형태를 사용한다고 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[확인 질문]</a:t>
            </a:r>
          </a:p>
          <a:p xmlns:a="http://schemas.openxmlformats.org/drawingml/2006/main">
            <a:r>
              <a:t>프로그램이 처음 실행되는 메서드 이름은 무엇인가? 예상 답: Main.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[다음 연결]</a:t>
            </a:r>
          </a:p>
          <a:p xmlns:a="http://schemas.openxmlformats.org/drawingml/2006/main">
            <a:r>
              <a:t>문법을 외우기 전에 어떤 순서로 생각하면 코드를 짤 수 있는지 정리한다.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https://learn.microsoft.com/en-us/dotnet/csharp/tour-of-csharp/overview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[권장 시간] 5분</a:t>
            </a:r>
          </a:p>
          <a:p xmlns:a="http://schemas.openxmlformats.org/drawingml/2006/main">
            <a:r>
              <a:t>[핵심 멘트]</a:t>
            </a:r>
          </a:p>
          <a:p xmlns:a="http://schemas.openxmlformats.org/drawingml/2006/main">
            <a:r>
              <a:t>코드를 바로 치기 전에 입력, 상태 변경, 규칙 판단, 결과 출력 네 칸으로 먼저 나누면 막히는 일이 줄어든다.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[예시를 따라 읽기]</a:t>
            </a:r>
          </a:p>
          <a:p xmlns:a="http://schemas.openxmlformats.org/drawingml/2006/main">
            <a:r>
              <a:t>공격을 입력한다 → 몬스터 체력을 줄인다 → 체력이 0 이하인지 확인한다 → 남은 체력이나 승리를 출력한다.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 참여]</a:t>
            </a:r>
          </a:p>
          <a:p xmlns:a="http://schemas.openxmlformats.org/drawingml/2006/main">
            <a:r>
              <a:t>‘물약 사용’을 네 단계로 말하게 한다. 예: 2 입력 → 플레이어 체력 증가 → 최대 체력 초과 확인 → 회복 결과 출력.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[막힐 때 사용할 질문]</a:t>
            </a:r>
          </a:p>
          <a:p xmlns:a="http://schemas.openxmlformats.org/drawingml/2006/main">
            <a:r>
              <a:t>무엇을 입력받아야 하지?</a:t>
            </a:r>
          </a:p>
          <a:p xmlns:a="http://schemas.openxmlformats.org/drawingml/2006/main">
            <a:r>
              <a:t>어떤 값이 바뀌지?</a:t>
            </a:r>
          </a:p>
          <a:p xmlns:a="http://schemas.openxmlformats.org/drawingml/2006/main">
            <a:r>
              <a:t>어떤 조건을 확인하지?</a:t>
            </a:r>
          </a:p>
          <a:p xmlns:a="http://schemas.openxmlformats.org/drawingml/2006/main">
            <a:r>
              <a:t>무엇을 출력하지?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[다음 연결]</a:t>
            </a:r>
          </a:p>
          <a:p xmlns:a="http://schemas.openxmlformats.org/drawingml/2006/main">
            <a:r>
              <a:t>이 네 단계를 구현할 때 사용할 오늘의 문법 목록을 한 번에 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[권장 시간] 3분</a:t>
            </a:r>
          </a:p>
          <a:p xmlns:a="http://schemas.openxmlformats.org/drawingml/2006/main">
            <a:r>
              <a:t>[설명 멘트]</a:t>
            </a:r>
          </a:p>
          <a:p xmlns:a="http://schemas.openxmlformats.org/drawingml/2006/main">
            <a:r>
              <a:t>오늘 C#의 모든 기능을 다루는 것이 아니라 콘솔 게임에 필요한 핵심 도구만 쓴다. 지금은 이름을 외우기보다 각 기능이 무슨 역할을 맡는지만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[빠르게 연결]</a:t>
            </a:r>
          </a:p>
          <a:p xmlns:a="http://schemas.openxmlformats.org/drawingml/2006/main">
            <a:r>
              <a:t>값 저장은 변수, 선택은 if, 반복은 while, 코드 분리는 메서드, 데이터와 동작을 묶는 것은 클래스다.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안내]</a:t>
            </a:r>
          </a:p>
          <a:p xmlns:a="http://schemas.openxmlformats.org/drawingml/2006/main">
            <a:r>
              <a:t>앞으로 나오는 코드에서 이 목록의 기능을 발견하면 표시하게 한다. 마지막 게임에는 이 기능들이 실제로 연결된다.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[다음 연결]</a:t>
            </a:r>
          </a:p>
          <a:p xmlns:a="http://schemas.openxmlformats.org/drawingml/2006/main">
            <a:r>
              <a:t>가장 먼저 값을 저장하고 입력받는 방법부터 코드로 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https://learn.microsoft.com/en-us/dotnet/csharp/tour-of-csharp/overview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[권장 시간] 7분</a:t>
            </a:r>
          </a:p>
          <a:p xmlns:a="http://schemas.openxmlformats.org/drawingml/2006/main">
            <a:r>
              <a:t>[설명 순서]</a:t>
            </a:r>
          </a:p>
          <a:p xmlns:a="http://schemas.openxmlformats.org/drawingml/2006/main">
            <a:r>
              <a:t>int는 정수, float는 소수, bool은 참·거짓, string은 문자열을 저장한다. 변수는 ‘자료형 이름 = 값’ 순서로 선언한다고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[실습]</a:t>
            </a:r>
          </a:p>
          <a:p xmlns:a="http://schemas.openxmlformats.org/drawingml/2006/main">
            <a:r>
              <a:t>학생이 자신의 이름, 체력, 공격력을 변수로 만든다. 그 값을 Console.WriteLine으로 출력한다. 그다음 ReadLine으로 행동을 입력받아 그대로 다시 출력한다.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[꼭 짚을 부분]</a:t>
            </a:r>
          </a:p>
          <a:p xmlns:a="http://schemas.openxmlformats.org/drawingml/2006/main">
            <a:r>
              <a:t>ReadLine의 결과는 기본적으로 string이다. 숫자로 계산하려면 int.Parse 같은 변환이 필요하다.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[오류 시 대처]</a:t>
            </a:r>
          </a:p>
          <a:p xmlns:a="http://schemas.openxmlformats.org/drawingml/2006/main">
            <a:r>
              <a:t>int.Parse에 글자를 넣으면 프로그램이 멈출 수 있다. 오늘은 숫자만 입력한다고 가정하고, 시간이 남으면 TryParse를 확장 기능으로 보여 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[확인 질문]</a:t>
            </a:r>
          </a:p>
          <a:p xmlns:a="http://schemas.openxmlformats.org/drawingml/2006/main">
            <a:r>
              <a:t>체력 30은 무슨 자료형이 적절한가? 죽었는지 여부는? 플레이어 이름은?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[다음 연결]</a:t>
            </a:r>
          </a:p>
          <a:p xmlns:a="http://schemas.openxmlformats.org/drawingml/2006/main">
            <a:r>
              <a:t>저장한 값에 따라 다른 행동을 고르고, 같은 행동을 반복하는 문법으로 넘어간다.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[권장 시간] 8분</a:t>
            </a:r>
          </a:p>
          <a:p xmlns:a="http://schemas.openxmlformats.org/drawingml/2006/main">
            <a:r>
              <a:t>[설명 멘트]</a:t>
            </a:r>
          </a:p>
          <a:p xmlns:a="http://schemas.openxmlformats.org/drawingml/2006/main">
            <a:r>
              <a:t>조건문은 어떤 코드를 실행할지 고르고, 반복문은 같은 작업을 다시 실행한다. 게임 규칙은 대부분 이 둘의 조합이다.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[왼쪽 코드]</a:t>
            </a:r>
          </a:p>
          <a:p xmlns:a="http://schemas.openxmlformats.org/drawingml/2006/main">
            <a:r>
              <a:t>hp가 0 이하이면 게임 오버를 출력하고, 아니면 현재 체력을 출력한다. 조건식의 결과는 true 또는 false다.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[오른쪽 코드]</a:t>
            </a:r>
          </a:p>
          <a:p xmlns:a="http://schemas.openxmlformats.org/drawingml/2006/main">
            <a:r>
              <a:t>while은 조건이 참인 동안 반복한다. for는 반복 횟수를 셀 때 편하다.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[시연]</a:t>
            </a:r>
          </a:p>
          <a:p xmlns:a="http://schemas.openxmlformats.org/drawingml/2006/main">
            <a:r>
              <a:t>monsterHp의 시작값과 감소량을 바꿔 반복 횟수가 어떻게 달라지는지 보여 준다. while 조건을 잘못 쓰면 무한 반복이 생길 수 있음을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질문]</a:t>
            </a:r>
          </a:p>
          <a:p xmlns:a="http://schemas.openxmlformats.org/drawingml/2006/main">
            <a:r>
              <a:t>전투는 몇 번 반복될지 미리 모르므로 for와 while 중 무엇이 자연스러운가? 예상 답: while.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[다음 연결]</a:t>
            </a:r>
          </a:p>
          <a:p xmlns:a="http://schemas.openxmlformats.org/drawingml/2006/main">
            <a:r>
              <a:t>조건과 반복 안에 같은 코드가 길어지면 메서드로 분리한다.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https://learn.microsoft.com/en-us/dotnet/csharp/language-reference/statements/iteration-statements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[권장 시간] 7분</a:t>
            </a:r>
          </a:p>
          <a:p xmlns:a="http://schemas.openxmlformats.org/drawingml/2006/main">
            <a:r>
              <a:t>[핵심 멘트]</a:t>
            </a:r>
          </a:p>
          <a:p xmlns:a="http://schemas.openxmlformats.org/drawingml/2006/main">
            <a:r>
              <a:t>메서드는 이름을 붙인 코드 묶음이다. 반복되는 계산을 분리하고, 무엇을 하는 코드인지 이름으로 설명할 수 있게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읽기]</a:t>
            </a:r>
          </a:p>
          <a:p xmlns:a="http://schemas.openxmlformats.org/drawingml/2006/main">
            <a:r>
              <a:t>CalculateDamage는 attack과 defense를 입력으로 받는다. damage를 계산하고 최소 피해가 1이 되게 고친 뒤 return으로 결과를 돌려준다.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[용어]</a:t>
            </a:r>
          </a:p>
          <a:p xmlns:a="http://schemas.openxmlformats.org/drawingml/2006/main">
            <a:r>
              <a:t>매개변수는 메서드가 받는 값, 반환값은 메서드가 돌려주는 값이다. void는 돌려주는 값이 없다는 뜻이다.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 참여]</a:t>
            </a:r>
          </a:p>
          <a:p xmlns:a="http://schemas.openxmlformats.org/drawingml/2006/main">
            <a:r>
              <a:t>메서드 이름만 보고 무슨 기능인지 추측하게 한다. CalculateDamage를 Heal 또는 IsDead로 바꾼다면 입력과 반환값이 무엇일지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[주의]</a:t>
            </a:r>
          </a:p>
          <a:p xmlns:a="http://schemas.openxmlformats.org/drawingml/2006/main">
            <a:r>
              <a:t>짧은 코드를 무조건 메서드로 빼는 것이 목표는 아니다. 의미가 분리되거나 반복될 때 사용한다고 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[다음 연결]</a:t>
            </a:r>
          </a:p>
          <a:p xmlns:a="http://schemas.openxmlformats.org/drawingml/2006/main">
            <a:r>
              <a:t>여러 값, 객체, 무작위 결과를 다루는 도구를 마지막으로 보고 게임에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https://learn.microsoft.com/en-us/dotnet/csharp/tour-of-csharp/overview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[권장 시간] 7분</a:t>
            </a:r>
          </a:p>
          <a:p xmlns:a="http://schemas.openxmlformats.org/drawingml/2006/main">
            <a:r>
              <a:t>[세 칸 설명]</a:t>
            </a:r>
          </a:p>
          <a:p xmlns:a="http://schemas.openxmlformats.org/drawingml/2006/main">
            <a:r>
              <a:t>List는 개수가 바뀔 수 있는 여러 값을 관리한다. 클래스는 데이터와 동작을 묶는다. Random은 지정한 범위에서 무작위 값을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[코드에서 짚기]</a:t>
            </a:r>
          </a:p>
          <a:p xmlns:a="http://schemas.openxmlformats.org/drawingml/2006/main">
            <a:r>
              <a:t>new()는 실제 List, Monster, Random 객체를 생성한다. List&lt;string&gt;은 문자열만 저장하는 목록이다. random.Next(5, 11)은 5 이상 11 미만이므로 가능한 값은 5부터 10까지다.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[객체지향 재연결]</a:t>
            </a:r>
          </a:p>
          <a:p xmlns:a="http://schemas.openxmlformats.org/drawingml/2006/main">
            <a:r>
              <a:t>Monster 클래스는 설계도이고 new로 만든 값이 객체다. 잠시 뒤 Fighter 설계도 하나로 Player와 Slime 객체를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질문]</a:t>
            </a:r>
          </a:p>
          <a:p xmlns:a="http://schemas.openxmlformats.org/drawingml/2006/main">
            <a:r>
              <a:t>물약이 여러 개라면 List에 무엇을 추가해야 하는가? 피해량을 10~20으로 만들려면 Next의 두 숫자는 어떻게 써야 하는가?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[다음 연결]</a:t>
            </a:r>
          </a:p>
          <a:p xmlns:a="http://schemas.openxmlformats.org/drawingml/2006/main">
            <a:r>
              <a:t>이제 지금까지 본 기능을 한 게임 규칙 안에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https://learn.microsoft.com/en-us/dotnet/csharp/tour-of-csharp/overview</a:t>
            </a:r>
          </a:p>
          <a:p xmlns:a="http://schemas.openxmlformats.org/drawingml/2006/main">
            <a:r>
              <a:t>- https://learn.microsoft.com/en-us/dotnet/csharp/fundamentals/tutorials/classes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[권장 시간] 4분</a:t>
            </a:r>
          </a:p>
          <a:p xmlns:a="http://schemas.openxmlformats.org/drawingml/2006/main">
            <a:r>
              <a:t>[설명 멘트]</a:t>
            </a:r>
          </a:p>
          <a:p xmlns:a="http://schemas.openxmlformats.org/drawingml/2006/main">
            <a:r>
              <a:t>만들 게임은 플레이어와 몬스터가 한 턴씩 행동하는 콘솔 전투다. 플레이어가 공격하거나 회복하고, 몬스터가 살아 있으면 반격한다. 한쪽 체력이 0이 되면 반복을 끝낸다.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[구현 전 확인]</a:t>
            </a:r>
          </a:p>
          <a:p xmlns:a="http://schemas.openxmlformats.org/drawingml/2006/main">
            <a:r>
              <a:t>오른쪽 목록을 보며 어떤 기능이 어디에 쓰일지 학생에게 연결하게 한다.</a:t>
            </a:r>
          </a:p>
          <a:p xmlns:a="http://schemas.openxmlformats.org/drawingml/2006/main">
            <a:r>
              <a:t>변수: 체력과 공격력</a:t>
            </a:r>
          </a:p>
          <a:p xmlns:a="http://schemas.openxmlformats.org/drawingml/2006/main">
            <a:r>
              <a:t>입력: 공격 또는 회복 선택</a:t>
            </a:r>
          </a:p>
          <a:p xmlns:a="http://schemas.openxmlformats.org/drawingml/2006/main">
            <a:r>
              <a:t>조건문: 입력과 사망 판정</a:t>
            </a:r>
          </a:p>
          <a:p xmlns:a="http://schemas.openxmlformats.org/drawingml/2006/main">
            <a:r>
              <a:t>반복문: 전투 반복</a:t>
            </a:r>
          </a:p>
          <a:p xmlns:a="http://schemas.openxmlformats.org/drawingml/2006/main">
            <a:r>
              <a:t>클래스: Fighter</a:t>
            </a:r>
          </a:p>
          <a:p xmlns:a="http://schemas.openxmlformats.org/drawingml/2006/main">
            <a:r>
              <a:t>Random: 피해량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[완료 조건]</a:t>
            </a:r>
          </a:p>
          <a:p xmlns:a="http://schemas.openxmlformats.org/drawingml/2006/main">
            <a:r>
              <a:t>컴파일된다. 공격과 회복이 동작한다. 승리 또는 게임 오버로 끝난다.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[다음 연결]</a:t>
            </a:r>
          </a:p>
          <a:p xmlns:a="http://schemas.openxmlformats.org/drawingml/2006/main">
            <a:r>
              <a:t>먼저 Fighter라는 설계도부터 작성한다.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[권장 시간] 10분</a:t>
            </a:r>
          </a:p>
          <a:p xmlns:a="http://schemas.openxmlformats.org/drawingml/2006/main">
            <a:r>
              <a:t>[진행 방식]</a:t>
            </a:r>
          </a:p>
          <a:p xmlns:a="http://schemas.openxmlformats.org/drawingml/2006/main">
            <a:r>
              <a:t>코드를 한꺼번에 복사시키지 말고, 덩어리별로 입력한 뒤 바로 설명한다. 학생이 따라 친 후 주변 학생과 비교하게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읽기 순서]</a:t>
            </a:r>
          </a:p>
          <a:p xmlns:a="http://schemas.openxmlformats.org/drawingml/2006/main">
            <a:r>
              <a:t>1. using 두 줄: Console과 List 사용 준비</a:t>
            </a:r>
          </a:p>
          <a:p xmlns:a="http://schemas.openxmlformats.org/drawingml/2006/main">
            <a:r>
              <a:t>2. class Fighter: 전투 캐릭터 설계도</a:t>
            </a:r>
          </a:p>
          <a:p xmlns:a="http://schemas.openxmlformats.org/drawingml/2006/main">
            <a:r>
              <a:t>3. Name, Hp, MaxHp, Attack: 객체마다 따로 가지는 상태</a:t>
            </a:r>
          </a:p>
          <a:p xmlns:a="http://schemas.openxmlformats.org/drawingml/2006/main">
            <a:r>
              <a:t>4. Items: 물약 목록</a:t>
            </a:r>
          </a:p>
          <a:p xmlns:a="http://schemas.openxmlformats.org/drawingml/2006/main">
            <a:r>
              <a:t>5. 생성자: 객체를 만들 때 처음 값을 넣는 곳</a:t>
            </a:r>
          </a:p>
          <a:p xmlns:a="http://schemas.openxmlformats.org/drawingml/2006/main">
            <a:r>
              <a:t>6. IsDead: 체력이 0 이하인지 알려 주는 행동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[객체지향 강조]</a:t>
            </a:r>
          </a:p>
          <a:p xmlns:a="http://schemas.openxmlformats.org/drawingml/2006/main">
            <a:r>
              <a:t>클래스 하나를 정의해 두면 Player와 Slime을 같은 규칙으로 만들 수 있다. 값은 각 객체가 따로 가진다.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[자주 나는 오류]</a:t>
            </a:r>
          </a:p>
          <a:p xmlns:a="http://schemas.openxmlformats.org/drawingml/2006/main">
            <a:r>
              <a:t>중괄호 위치, 대소문자, 세미콜론, using System.Collections.Generic 누락을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[확인 질문]</a:t>
            </a:r>
          </a:p>
          <a:p xmlns:a="http://schemas.openxmlformats.org/drawingml/2006/main">
            <a:r>
              <a:t>MaxHp를 따로 저장하는 이유는 무엇인가? 예상 답: 회복 시 최대 체력을 넘지 않게 하기 위해서.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[권장 시간] 10분</a:t>
            </a:r>
          </a:p>
          <a:p xmlns:a="http://schemas.openxmlformats.org/drawingml/2006/main">
            <a:r>
              <a:t>[설명 멘트]</a:t>
            </a:r>
          </a:p>
          <a:p xmlns:a="http://schemas.openxmlformats.org/drawingml/2006/main">
            <a:r>
              <a:t>필드가 Fighter의 상태라면 이 메서드들은 Fighter가 할 수 있는 행동이다.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[메서드별 설명]</a:t>
            </a:r>
          </a:p>
          <a:p xmlns:a="http://schemas.openxmlformats.org/drawingml/2006/main">
            <a:r>
              <a:t>MakeDamage: 공격력을 기준으로 무작위 피해량을 반환한다.</a:t>
            </a:r>
          </a:p>
          <a:p xmlns:a="http://schemas.openxmlformats.org/drawingml/2006/main">
            <a:r>
              <a:t>TakeDamage: 체력에서 피해를 빼고 음수가 되지 않게 한다.</a:t>
            </a:r>
          </a:p>
          <a:p xmlns:a="http://schemas.openxmlformats.org/drawingml/2006/main">
            <a:r>
              <a:t>UsePotion: 물약이 없으면 false, 있으면 회복하고 물약을 제거한 뒤 true를 반환한다.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[중요한 경계]</a:t>
            </a:r>
          </a:p>
          <a:p xmlns:a="http://schemas.openxmlformats.org/drawingml/2006/main">
            <a:r>
              <a:t>random.Next의 두 번째 숫자는 포함되지 않는다. Attack이 8이면 이 코드는 6부터 10까지 나온다.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질문]</a:t>
            </a:r>
          </a:p>
          <a:p xmlns:a="http://schemas.openxmlformats.org/drawingml/2006/main">
            <a:r>
              <a:t>물약 회복량을 15로 바꾸려면 어느 줄을 수정해야 하는가? 물약을 사용해도 사라지지 않게 하려면 어느 줄을 지워야 하는가?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[오류 확인]</a:t>
            </a:r>
          </a:p>
          <a:p xmlns:a="http://schemas.openxmlformats.org/drawingml/2006/main">
            <a:r>
              <a:t>메서드를 class Fighter의 마지막 중괄호 안에 넣었는지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[다음 연결]</a:t>
            </a:r>
          </a:p>
          <a:p xmlns:a="http://schemas.openxmlformats.org/drawingml/2006/main">
            <a:r>
              <a:t>설계도가 완성됐으므로 Main에서 실제 Player와 Slime 객체를 만든다.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[권장 시간] 10분</a:t>
            </a:r>
          </a:p>
          <a:p xmlns:a="http://schemas.openxmlformats.org/drawingml/2006/main">
            <a:r>
              <a:t>[코드 읽기 순서]</a:t>
            </a:r>
          </a:p>
          <a:p xmlns:a="http://schemas.openxmlformats.org/drawingml/2006/main">
            <a:r>
              <a:t>1. Random 객체 생성</a:t>
            </a:r>
          </a:p>
          <a:p xmlns:a="http://schemas.openxmlformats.org/drawingml/2006/main">
            <a:r>
              <a:t>2. 같은 Fighter 클래스로 player와 monster 객체 생성</a:t>
            </a:r>
          </a:p>
          <a:p xmlns:a="http://schemas.openxmlformats.org/drawingml/2006/main">
            <a:r>
              <a:t>3. 둘 다 살아 있는 동안 while 반복</a:t>
            </a:r>
          </a:p>
          <a:p xmlns:a="http://schemas.openxmlformats.org/drawingml/2006/main">
            <a:r>
              <a:t>4. 현재 체력 출력</a:t>
            </a:r>
          </a:p>
          <a:p xmlns:a="http://schemas.openxmlformats.org/drawingml/2006/main">
            <a:r>
              <a:t>5. 행동 입력</a:t>
            </a:r>
          </a:p>
          <a:p xmlns:a="http://schemas.openxmlformats.org/drawingml/2006/main">
            <a:r>
              <a:t>6. 1을 입력하면 플레이어가 피해량을 만들고 몬스터가 피해를 받음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[객체 구분]</a:t>
            </a:r>
          </a:p>
          <a:p xmlns:a="http://schemas.openxmlformats.org/drawingml/2006/main">
            <a:r>
              <a:t>player.Hp와 monster.Hp는 같은 필드 이름이지만 서로 다른 객체의 값이다. 한쪽을 줄여도 다른 쪽 체력은 자동으로 바뀌지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[실행 확인]</a:t>
            </a:r>
          </a:p>
          <a:p xmlns:a="http://schemas.openxmlformats.org/drawingml/2006/main">
            <a:r>
              <a:t>여기까지만 입력한 상태에서는 중괄호가 아직 끝나지 않았으므로 실행하지 않는다. 다음 슬라이드까지 작성한 뒤 실행한다고 미리 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[자주 나는 오류]</a:t>
            </a:r>
          </a:p>
          <a:p xmlns:a="http://schemas.openxmlformats.org/drawingml/2006/main">
            <a:r>
              <a:t>쌍따옴표가 빠졌는지, IsDead 뒤 괄호가 있는지, &amp;&amp;를 하나만 쓰지 않았는지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[다음 연결]</a:t>
            </a:r>
          </a:p>
          <a:p xmlns:a="http://schemas.openxmlformats.org/drawingml/2006/main">
            <a:r>
              <a:t>공격 외 입력과 몬스터 반격, 반복 종료 뒤 결과를 붙인다.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[권장 시간] 10분</a:t>
            </a:r>
          </a:p>
          <a:p xmlns:a="http://schemas.openxmlformats.org/drawingml/2006/main">
            <a:r>
              <a:t>[코드 읽기 순서]</a:t>
            </a:r>
          </a:p>
          <a:p xmlns:a="http://schemas.openxmlformats.org/drawingml/2006/main">
            <a:r>
              <a:t>2를 입력하면 UsePotion을 호출한다. 다른 입력이면 안내를 출력하고 continue로 이번 반복을 처음부터 다시 시작한다. 몬스터가 살아 있으면 반격한다. while이 끝나면 누가 죽었는지 확인해 결과를 출력한다.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[전체 실행]</a:t>
            </a:r>
          </a:p>
          <a:p xmlns:a="http://schemas.openxmlformats.org/drawingml/2006/main">
            <a:r>
              <a:t>작성 완료 후 반드시 여러 번 실행한다.</a:t>
            </a:r>
          </a:p>
          <a:p xmlns:a="http://schemas.openxmlformats.org/drawingml/2006/main">
            <a:r>
              <a:t>1. 공격만 선택해 끝까지 진행</a:t>
            </a:r>
          </a:p>
          <a:p xmlns:a="http://schemas.openxmlformats.org/drawingml/2006/main">
            <a:r>
              <a:t>2. 첫 턴에 회복 사용</a:t>
            </a:r>
          </a:p>
          <a:p xmlns:a="http://schemas.openxmlformats.org/drawingml/2006/main">
            <a:r>
              <a:t>3. 물약을 두 번 사용</a:t>
            </a:r>
          </a:p>
          <a:p xmlns:a="http://schemas.openxmlformats.org/drawingml/2006/main">
            <a:r>
              <a:t>4. 잘못된 문자 입력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[디버깅 질문]</a:t>
            </a:r>
          </a:p>
          <a:p xmlns:a="http://schemas.openxmlformats.org/drawingml/2006/main">
            <a:r>
              <a:t>오류 메시지의 첫 줄과 줄 번호를 먼저 보게 한다. 빨간 줄만 고치지 말고 바로 앞 중괄호와 세미콜론도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설명 확인]</a:t>
            </a:r>
          </a:p>
          <a:p xmlns:a="http://schemas.openxmlformats.org/drawingml/2006/main">
            <a:r>
              <a:t>학생 한두 명에게 ‘몬스터가 죽으면 왜 반격하지 않는가’를 코드로 설명하게 한다. 예상 답: if (!monster.IsDead()) 조건 때문.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[다음 연결]</a:t>
            </a:r>
          </a:p>
          <a:p xmlns:a="http://schemas.openxmlformats.org/drawingml/2006/main">
            <a:r>
              <a:t>기본 게임이 동작하면 조건 하나를 바꿔 자신만의 기능을 추가한다.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[권장 시간] 12분</a:t>
            </a:r>
          </a:p>
          <a:p xmlns:a="http://schemas.openxmlformats.org/drawingml/2006/main">
            <a:r>
              <a:t>[과제 안내]</a:t>
            </a:r>
          </a:p>
          <a:p xmlns:a="http://schemas.openxmlformats.org/drawingml/2006/main">
            <a:r>
              <a:t>먼저 기본 게임을 실행해 정상 동작을 확인한 학생만 기능을 추가한다. 기능은 하나만 골라도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[난이도별 제안]</a:t>
            </a:r>
          </a:p>
          <a:p xmlns:a="http://schemas.openxmlformats.org/drawingml/2006/main">
            <a:r>
              <a:t>기본: 회복량, 체력, 공격력 같은 숫자 변경</a:t>
            </a:r>
          </a:p>
          <a:p xmlns:a="http://schemas.openxmlformats.org/drawingml/2006/main">
            <a:r>
              <a:t>보통: 치명타 또는 방어 행동 추가</a:t>
            </a:r>
          </a:p>
          <a:p xmlns:a="http://schemas.openxmlformats.org/drawingml/2006/main">
            <a:r>
              <a:t>도전: 턴 수에 따른 난이도, 여러 몬스터, 새 아이템 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[기능 설계 질문]</a:t>
            </a:r>
          </a:p>
          <a:p xmlns:a="http://schemas.openxmlformats.org/drawingml/2006/main">
            <a:r>
              <a:t>무슨 입력이 필요한가?</a:t>
            </a:r>
          </a:p>
          <a:p xmlns:a="http://schemas.openxmlformats.org/drawingml/2006/main">
            <a:r>
              <a:t>어떤 상태가 추가되거나 바뀌는가?</a:t>
            </a:r>
          </a:p>
          <a:p xmlns:a="http://schemas.openxmlformats.org/drawingml/2006/main">
            <a:r>
              <a:t>어떤 조건으로 동작하는가?</a:t>
            </a:r>
          </a:p>
          <a:p xmlns:a="http://schemas.openxmlformats.org/drawingml/2006/main">
            <a:r>
              <a:t>결과를 무엇으로 보여 주는가?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[도움 주는 순서]</a:t>
            </a:r>
          </a:p>
          <a:p xmlns:a="http://schemas.openxmlformats.org/drawingml/2006/main">
            <a:r>
              <a:t>정답 코드를 바로 주지 않는다. 학생이 바꾸려는 규칙을 말하게 하고, 필요한 변수와 조건 위치를 먼저 찾게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부족 시]</a:t>
            </a:r>
          </a:p>
          <a:p xmlns:a="http://schemas.openxmlformats.org/drawingml/2006/main">
            <a:r>
              <a:t>새 기능을 완성하지 못해도 기본 게임이 실행되는 상태는 보존한다. 기능 코드는 작은 단계로 저장하고 오류가 나면 마지막 정상 상태로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[다음 연결]</a:t>
            </a:r>
          </a:p>
          <a:p xmlns:a="http://schemas.openxmlformats.org/drawingml/2006/main">
            <a:r>
              <a:t>작동 확인이 끝났으면 변경 내용을 Git으로 남긴다.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[권장 시간] 8분</a:t>
            </a:r>
          </a:p>
          <a:p xmlns:a="http://schemas.openxmlformats.org/drawingml/2006/main">
            <a:r>
              <a:t>[마무리 순서]</a:t>
            </a:r>
          </a:p>
          <a:p xmlns:a="http://schemas.openxmlformats.org/drawingml/2006/main">
            <a:r>
              <a:t>1. 현재 개인 브랜치인지 확인한다.</a:t>
            </a:r>
          </a:p>
          <a:p xmlns:a="http://schemas.openxmlformats.org/drawingml/2006/main">
            <a:r>
              <a:t>2. 프로그램을 마지막으로 실행한다.</a:t>
            </a:r>
          </a:p>
          <a:p xmlns:a="http://schemas.openxmlformats.org/drawingml/2006/main">
            <a:r>
              <a:t>3. 변경 파일에 소스 코드와 프로젝트 파일만 포함됐는지 확인한다.</a:t>
            </a:r>
          </a:p>
          <a:p xmlns:a="http://schemas.openxmlformats.org/drawingml/2006/main">
            <a:r>
              <a:t>4. 무엇을 만들었는지 알 수 있는 commit 메시지를 작성한다.</a:t>
            </a:r>
          </a:p>
          <a:p xmlns:a="http://schemas.openxmlformats.org/drawingml/2006/main">
            <a:r>
              <a:t>5. 원격 저장소로 push한다.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[권장 명령 또는 Fork 확인]</a:t>
            </a:r>
          </a:p>
          <a:p xmlns:a="http://schemas.openxmlformats.org/drawingml/2006/main">
            <a:r>
              <a:t>git status</a:t>
            </a:r>
          </a:p>
          <a:p xmlns:a="http://schemas.openxmlformats.org/drawingml/2006/main">
            <a:r>
              <a:t>git add .</a:t>
            </a:r>
          </a:p>
          <a:p xmlns:a="http://schemas.openxmlformats.org/drawingml/2006/main">
            <a:r>
              <a:t>git commit -m "feat: add console battle game"</a:t>
            </a:r>
          </a:p>
          <a:p xmlns:a="http://schemas.openxmlformats.org/drawingml/2006/main">
            <a:r>
              <a:t>git push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[주의]</a:t>
            </a:r>
          </a:p>
          <a:p xmlns:a="http://schemas.openxmlformats.org/drawingml/2006/main">
            <a:r>
              <a:t>main 브랜치에 직접 push하지 않게 한다. bin, obj 같은 빌드 결과물이 올라가면 .gitignore를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 확인]</a:t>
            </a:r>
          </a:p>
          <a:p xmlns:a="http://schemas.openxmlformats.org/drawingml/2006/main">
            <a:r>
              <a:t>push 뒤 원격 저장소에서 자신의 최신 commit이 보이는지 확인하게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[종료 멘트]</a:t>
            </a:r>
          </a:p>
          <a:p xmlns:a="http://schemas.openxmlformats.org/drawingml/2006/main">
            <a:r>
              <a:t>오늘 배운 핵심은 문법 목록이 아니라 입력 → 상태 변경 → 조건 판단 → 출력으로 게임 규칙을 코드에 옮기는 방법이다. 다음 시간에는 이 규칙을 Unity의 GameObject와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1bac13f0da4c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fe6b425c124ded" /><Relationship Type="http://schemas.openxmlformats.org/officeDocument/2006/relationships/slideLayout" Target="/ppt/slideLayouts/slideLayout1.xml" Id="R57d77471a6d449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d77471a6d449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6678f3d264e70" /><Relationship Type="http://schemas.openxmlformats.org/officeDocument/2006/relationships/notesSlide" Target="/ppt/notesSlides/notesSlide1.xml" Id="R3a83804811ad47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e6c95ea95406a" /><Relationship Type="http://schemas.openxmlformats.org/officeDocument/2006/relationships/notesSlide" Target="/ppt/notesSlides/notesSlide2.xml" Id="Rf3f864f8b34943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bdf4b88be40e6" /><Relationship Type="http://schemas.openxmlformats.org/officeDocument/2006/relationships/notesSlide" Target="/ppt/notesSlides/notesSlide3.xml" Id="R3e67d720560d43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a5f887e264381" /><Relationship Type="http://schemas.openxmlformats.org/officeDocument/2006/relationships/notesSlide" Target="/ppt/notesSlides/notesSlide4.xml" Id="Ra08bf3e494704c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11cb519e14930" /><Relationship Type="http://schemas.openxmlformats.org/officeDocument/2006/relationships/notesSlide" Target="/ppt/notesSlides/notesSlide5.xml" Id="Rd6ff8feb67654e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544b427974aa7" /><Relationship Type="http://schemas.openxmlformats.org/officeDocument/2006/relationships/notesSlide" Target="/ppt/notesSlides/notesSlide6.xml" Id="Ra95e6a54620d44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9fbd57f7c44a7" /><Relationship Type="http://schemas.openxmlformats.org/officeDocument/2006/relationships/notesSlide" Target="/ppt/notesSlides/notesSlide7.xml" Id="R800896c8876744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741823a204e7a" /><Relationship Type="http://schemas.openxmlformats.org/officeDocument/2006/relationships/notesSlide" Target="/ppt/notesSlides/notesSlide8.xml" Id="Re137ebc8409848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4f9e99f734245" /><Relationship Type="http://schemas.openxmlformats.org/officeDocument/2006/relationships/notesSlide" Target="/ppt/notesSlides/notesSlide9.xml" Id="R32159c55f84641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52a8bd714492e" /><Relationship Type="http://schemas.openxmlformats.org/officeDocument/2006/relationships/notesSlide" Target="/ppt/notesSlides/notesSlide10.xml" Id="Rf667699b8e5c49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751d530c54faf" /><Relationship Type="http://schemas.openxmlformats.org/officeDocument/2006/relationships/notesSlide" Target="/ppt/notesSlides/notesSlide11.xml" Id="R1c6aa065ccf145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7e673fcc244c9" /><Relationship Type="http://schemas.openxmlformats.org/officeDocument/2006/relationships/notesSlide" Target="/ppt/notesSlides/notesSlide12.xml" Id="R1a46b010f82d43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1cf493a7c4114" /><Relationship Type="http://schemas.openxmlformats.org/officeDocument/2006/relationships/notesSlide" Target="/ppt/notesSlides/notesSlide13.xml" Id="R71664d3fd8f743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cab1e65324b49" /><Relationship Type="http://schemas.openxmlformats.org/officeDocument/2006/relationships/notesSlide" Target="/ppt/notesSlides/notesSlide14.xml" Id="R138cce22056d45c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fd1d11d134ebe" /><Relationship Type="http://schemas.openxmlformats.org/officeDocument/2006/relationships/notesSlide" Target="/ppt/notesSlides/notesSlide15.xml" Id="R2822817d3d6a49b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68c8452964516" /><Relationship Type="http://schemas.openxmlformats.org/officeDocument/2006/relationships/notesSlide" Target="/ppt/notesSlides/notesSlide16.xml" Id="R055ece8b77a74ea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880794fa7488a" /><Relationship Type="http://schemas.openxmlformats.org/officeDocument/2006/relationships/notesSlide" Target="/ppt/notesSlides/notesSlide17.xml" Id="Rcd9e5c9daf2d43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41dc791bf4586" /><Relationship Type="http://schemas.openxmlformats.org/officeDocument/2006/relationships/notesSlide" Target="/ppt/notesSlides/notesSlide18.xml" Id="R9e4fb73b8be647e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9c909252d4cb5" /><Relationship Type="http://schemas.openxmlformats.org/officeDocument/2006/relationships/notesSlide" Target="/ppt/notesSlides/notesSlide19.xml" Id="R1a64a235c9734a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ver-session">
            <a:extLst xmlns:a="http://schemas.openxmlformats.org/drawingml/2006/main">
              <a:ext uri="{FF2B5EF4-FFF2-40B4-BE49-F238E27FC236}">
                <a16:creationId xmlns:a16="http://schemas.microsoft.com/office/drawing/2014/main" id="{556365D0-9465-4E8E-AF25-E68DA672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게임개발 심화반 · 2회차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9C01748-E4E6-4E6C-A06E-360A1F24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C#</a:t>
            </a:r>
          </a:p>
        </p:txBody>
      </p:sp>
    </p:spTree>
    <p:extLst>
      <p:ext uri="{BB962C8B-B14F-4D97-AF65-F5344CB8AC3E}">
        <p14:creationId xmlns:p14="http://schemas.microsoft.com/office/powerpoint/2010/main" val="840490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1A396A87-132B-480D-BD9E-2FED1335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C# 언어란?</a:t>
            </a:r>
          </a:p>
        </p:txBody>
      </p:sp>
      <p:sp>
        <p:nvSpPr>
          <p:cNvPr id="2" name="rule-2">
            <a:extLst xmlns:a="http://schemas.openxmlformats.org/drawingml/2006/main">
              <a:ext uri="{FF2B5EF4-FFF2-40B4-BE49-F238E27FC236}">
                <a16:creationId xmlns:a16="http://schemas.microsoft.com/office/drawing/2014/main" id="{2F1D4C04-9082-4D67-8F82-D13C5E1F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87361865-A177-4DC6-AD38-F625AF5C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" name="what-bullets">
            <a:extLst xmlns:a="http://schemas.openxmlformats.org/drawingml/2006/main">
              <a:ext uri="{FF2B5EF4-FFF2-40B4-BE49-F238E27FC236}">
                <a16:creationId xmlns:a16="http://schemas.microsoft.com/office/drawing/2014/main" id="{4FE9F4A4-62D4-4A53-A906-11F625A7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마이크로소프트가 만든 프로그래밍 언어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.NET 환경에서 실행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게임, 프로그램, 웹 서버 등을 개발할 수 있음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Unity에서 게임의 동작과 규칙을 작성할 때 사용</a:t>
            </a:r>
          </a:p>
        </p:txBody>
      </p:sp>
      <p:sp>
        <p:nvSpPr>
          <p:cNvPr id="5" name="what-summary">
            <a:extLst xmlns:a="http://schemas.openxmlformats.org/drawingml/2006/main">
              <a:ext uri="{FF2B5EF4-FFF2-40B4-BE49-F238E27FC236}">
                <a16:creationId xmlns:a16="http://schemas.microsoft.com/office/drawing/2014/main" id="{F9B4484E-118F-4787-854B-7B22D05F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C#은 컴퓨터가 해야 할 일과 게임의 규칙을 작성하는 언어다.</a:t>
            </a:r>
          </a:p>
        </p:txBody>
      </p:sp>
    </p:spTree>
    <p:extLst>
      <p:ext uri="{BB962C8B-B14F-4D97-AF65-F5344CB8AC3E}">
        <p14:creationId xmlns:p14="http://schemas.microsoft.com/office/powerpoint/2010/main" val="6907408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">
            <a:extLst xmlns:a="http://schemas.openxmlformats.org/drawingml/2006/main">
              <a:ext uri="{FF2B5EF4-FFF2-40B4-BE49-F238E27FC236}">
                <a16:creationId xmlns:a16="http://schemas.microsoft.com/office/drawing/2014/main" id="{446C76FF-EF77-43D7-8A68-324D6D47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게임에서 C#이 하는 일</a:t>
            </a:r>
          </a:p>
        </p:txBody>
      </p:sp>
      <p:sp>
        <p:nvSpPr>
          <p:cNvPr id="2" name="rule-3">
            <a:extLst xmlns:a="http://schemas.openxmlformats.org/drawingml/2006/main">
              <a:ext uri="{FF2B5EF4-FFF2-40B4-BE49-F238E27FC236}">
                <a16:creationId xmlns:a16="http://schemas.microsoft.com/office/drawing/2014/main" id="{0ED4FA3A-065D-4159-A581-5F3E5C9D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364E65D4-6F54-464E-A012-4E02FB49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" name="role-left">
            <a:extLst xmlns:a="http://schemas.openxmlformats.org/drawingml/2006/main">
              <a:ext uri="{FF2B5EF4-FFF2-40B4-BE49-F238E27FC236}">
                <a16:creationId xmlns:a16="http://schemas.microsoft.com/office/drawing/2014/main" id="{4D9A2025-2C72-4B39-80E2-B313A8BD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플레이어 이동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체력과 공격력 저장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공격과 충돌 처리</a:t>
            </a:r>
          </a:p>
        </p:txBody>
      </p:sp>
      <p:sp>
        <p:nvSpPr>
          <p:cNvPr id="5" name="role-right">
            <a:extLst xmlns:a="http://schemas.openxmlformats.org/drawingml/2006/main">
              <a:ext uri="{FF2B5EF4-FFF2-40B4-BE49-F238E27FC236}">
                <a16:creationId xmlns:a16="http://schemas.microsoft.com/office/drawing/2014/main" id="{750C7064-EBCA-4C2E-A554-BB101697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적 행동 결정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점수와 게임오버 판정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아이템과 게임 진행</a:t>
            </a:r>
          </a:p>
        </p:txBody>
      </p:sp>
      <p:sp>
        <p:nvSpPr>
          <p:cNvPr id="6" name="role-divider">
            <a:extLst xmlns:a="http://schemas.openxmlformats.org/drawingml/2006/main">
              <a:ext uri="{FF2B5EF4-FFF2-40B4-BE49-F238E27FC236}">
                <a16:creationId xmlns:a16="http://schemas.microsoft.com/office/drawing/2014/main" id="{BFB0F384-5FBA-44B9-B5AC-CF8E6449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952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le-summary">
            <a:extLst xmlns:a="http://schemas.openxmlformats.org/drawingml/2006/main">
              <a:ext uri="{FF2B5EF4-FFF2-40B4-BE49-F238E27FC236}">
                <a16:creationId xmlns:a16="http://schemas.microsoft.com/office/drawing/2014/main" id="{C250A872-C370-4D67-8D4E-A7B2472F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화면에 있는 오브젝트가 실제 게임처럼 동작하도록 규칙을 연결한다.</a:t>
            </a:r>
          </a:p>
        </p:txBody>
      </p:sp>
    </p:spTree>
    <p:extLst>
      <p:ext uri="{BB962C8B-B14F-4D97-AF65-F5344CB8AC3E}">
        <p14:creationId xmlns:p14="http://schemas.microsoft.com/office/powerpoint/2010/main" val="18826039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4">
            <a:extLst xmlns:a="http://schemas.openxmlformats.org/drawingml/2006/main">
              <a:ext uri="{FF2B5EF4-FFF2-40B4-BE49-F238E27FC236}">
                <a16:creationId xmlns:a16="http://schemas.microsoft.com/office/drawing/2014/main" id="{98728338-A507-46A9-96EF-B0EE96CE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C와 C#의 차이</a:t>
            </a:r>
          </a:p>
        </p:txBody>
      </p:sp>
      <p:sp>
        <p:nvSpPr>
          <p:cNvPr id="2" name="rule-4">
            <a:extLst xmlns:a="http://schemas.openxmlformats.org/drawingml/2006/main">
              <a:ext uri="{FF2B5EF4-FFF2-40B4-BE49-F238E27FC236}">
                <a16:creationId xmlns:a16="http://schemas.microsoft.com/office/drawing/2014/main" id="{15AAEEB6-4955-4584-9729-9678151C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35BFA61E-0989-45B7-953B-104AF6CC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" name="c-head">
            <a:extLst xmlns:a="http://schemas.openxmlformats.org/drawingml/2006/main">
              <a:ext uri="{FF2B5EF4-FFF2-40B4-BE49-F238E27FC236}">
                <a16:creationId xmlns:a16="http://schemas.microsoft.com/office/drawing/2014/main" id="{1B5ACDEB-3946-46E9-97C1-F31AC2A5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5" name="cs-head">
            <a:extLst xmlns:a="http://schemas.openxmlformats.org/drawingml/2006/main">
              <a:ext uri="{FF2B5EF4-FFF2-40B4-BE49-F238E27FC236}">
                <a16:creationId xmlns:a16="http://schemas.microsoft.com/office/drawing/2014/main" id="{1261E0D9-C56F-452D-B723-AB69C7B7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621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C#</a:t>
            </a:r>
          </a:p>
        </p:txBody>
      </p:sp>
      <p:sp>
        <p:nvSpPr>
          <p:cNvPr id="6" name="c-list">
            <a:extLst xmlns:a="http://schemas.openxmlformats.org/drawingml/2006/main">
              <a:ext uri="{FF2B5EF4-FFF2-40B4-BE49-F238E27FC236}">
                <a16:creationId xmlns:a16="http://schemas.microsoft.com/office/drawing/2014/main" id="{E23BA5F4-4688-41C9-A9D4-F0EF4AC0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컴퓨터에 가까운 제어에 강함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메모리를 직접 관리하는 경우가 많음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함수와 구조체 중심으로 작성 가능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운영체제·임베디드 등에 많이 사용</a:t>
            </a:r>
          </a:p>
        </p:txBody>
      </p:sp>
      <p:sp>
        <p:nvSpPr>
          <p:cNvPr id="7" name="cs-list">
            <a:extLst xmlns:a="http://schemas.openxmlformats.org/drawingml/2006/main">
              <a:ext uri="{FF2B5EF4-FFF2-40B4-BE49-F238E27FC236}">
                <a16:creationId xmlns:a16="http://schemas.microsoft.com/office/drawing/2014/main" id="{BCDE47AE-A3EC-48B2-A494-578B10B3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프로그램 구조와 기능 개발에 편리함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메모리 관리를 실행 환경이 지원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클래스와 객체를 많이 사용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Unity·데스크톱·웹 등에 많이 사용</a:t>
            </a:r>
          </a:p>
        </p:txBody>
      </p:sp>
      <p:sp>
        <p:nvSpPr>
          <p:cNvPr id="8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A4AA1564-B8D8-4F2C-8AD0-14A622A9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049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mpare-summary">
            <a:extLst xmlns:a="http://schemas.openxmlformats.org/drawingml/2006/main">
              <a:ext uri="{FF2B5EF4-FFF2-40B4-BE49-F238E27FC236}">
                <a16:creationId xmlns:a16="http://schemas.microsoft.com/office/drawing/2014/main" id="{BB4B4057-6074-4143-91AD-EF0A1D5C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C#은 C의 상위 버전이 아니라 별도의 언어다.</a:t>
            </a:r>
          </a:p>
        </p:txBody>
      </p:sp>
    </p:spTree>
    <p:extLst>
      <p:ext uri="{BB962C8B-B14F-4D97-AF65-F5344CB8AC3E}">
        <p14:creationId xmlns:p14="http://schemas.microsoft.com/office/powerpoint/2010/main" val="10555767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">
            <a:extLst xmlns:a="http://schemas.openxmlformats.org/drawingml/2006/main">
              <a:ext uri="{FF2B5EF4-FFF2-40B4-BE49-F238E27FC236}">
                <a16:creationId xmlns:a16="http://schemas.microsoft.com/office/drawing/2014/main" id="{446C76FF-EF77-43D7-8A68-324D6D47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C#은 객체지향 언어</a:t>
            </a:r>
          </a:p>
        </p:txBody>
      </p:sp>
      <p:sp>
        <p:nvSpPr>
          <p:cNvPr id="2" name="rule-3">
            <a:extLst xmlns:a="http://schemas.openxmlformats.org/drawingml/2006/main">
              <a:ext uri="{FF2B5EF4-FFF2-40B4-BE49-F238E27FC236}">
                <a16:creationId xmlns:a16="http://schemas.microsoft.com/office/drawing/2014/main" id="{0ED4FA3A-065D-4159-A581-5F3E5C9D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364E65D4-6F54-464E-A012-4E02FB49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" name="role-left">
            <a:extLst xmlns:a="http://schemas.openxmlformats.org/drawingml/2006/main">
              <a:ext uri="{FF2B5EF4-FFF2-40B4-BE49-F238E27FC236}">
                <a16:creationId xmlns:a16="http://schemas.microsoft.com/office/drawing/2014/main" id="{4D9A2025-2C72-4B39-80E2-B313A8BD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클래스: 객체를 만드는 설계도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필드: 이름·체력 같은 상태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메서드: 공격·회복 같은 행동</a:t>
            </a:r>
          </a:p>
        </p:txBody>
      </p:sp>
      <p:sp>
        <p:nvSpPr>
          <p:cNvPr id="5" name="role-right">
            <a:extLst xmlns:a="http://schemas.openxmlformats.org/drawingml/2006/main">
              <a:ext uri="{FF2B5EF4-FFF2-40B4-BE49-F238E27FC236}">
                <a16:creationId xmlns:a16="http://schemas.microsoft.com/office/drawing/2014/main" id="{750C7064-EBCA-4C2E-A554-BB101697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Player 객체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Monster 객체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Item 객체</a:t>
            </a:r>
          </a:p>
        </p:txBody>
      </p:sp>
      <p:sp>
        <p:nvSpPr>
          <p:cNvPr id="6" name="role-divider">
            <a:extLst xmlns:a="http://schemas.openxmlformats.org/drawingml/2006/main">
              <a:ext uri="{FF2B5EF4-FFF2-40B4-BE49-F238E27FC236}">
                <a16:creationId xmlns:a16="http://schemas.microsoft.com/office/drawing/2014/main" id="{BFB0F384-5FBA-44B9-B5AC-CF8E6449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952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le-summary">
            <a:extLst xmlns:a="http://schemas.openxmlformats.org/drawingml/2006/main">
              <a:ext uri="{FF2B5EF4-FFF2-40B4-BE49-F238E27FC236}">
                <a16:creationId xmlns:a16="http://schemas.microsoft.com/office/drawing/2014/main" id="{C250A872-C370-4D67-8D4E-A7B2472F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객체지향은 게임 속 대상을 데이터와 기능이 함께 있는 객체로 표현하는 방식이다.</a:t>
            </a:r>
          </a:p>
        </p:txBody>
      </p:sp>
    </p:spTree>
    <p:extLst>
      <p:ext uri="{BB962C8B-B14F-4D97-AF65-F5344CB8AC3E}">
        <p14:creationId xmlns:p14="http://schemas.microsoft.com/office/powerpoint/2010/main" val="1882603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5">
            <a:extLst xmlns:a="http://schemas.openxmlformats.org/drawingml/2006/main">
              <a:ext uri="{FF2B5EF4-FFF2-40B4-BE49-F238E27FC236}">
                <a16:creationId xmlns:a16="http://schemas.microsoft.com/office/drawing/2014/main" id="{2EDD61D5-0248-4D65-8E8D-BD4669E4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C# 프로그램의 기본 구조</a:t>
            </a:r>
          </a:p>
        </p:txBody>
      </p:sp>
      <p:sp>
        <p:nvSpPr>
          <p:cNvPr id="2" name="rule-5">
            <a:extLst xmlns:a="http://schemas.openxmlformats.org/drawingml/2006/main">
              <a:ext uri="{FF2B5EF4-FFF2-40B4-BE49-F238E27FC236}">
                <a16:creationId xmlns:a16="http://schemas.microsoft.com/office/drawing/2014/main" id="{A52A8A26-C788-419B-BE7C-7207DDD5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804B966F-0B3E-4663-9E7D-B6B46BB8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" name="structure-code">
            <a:extLst xmlns:a="http://schemas.openxmlformats.org/drawingml/2006/main">
              <a:ext uri="{FF2B5EF4-FFF2-40B4-BE49-F238E27FC236}">
                <a16:creationId xmlns:a16="http://schemas.microsoft.com/office/drawing/2014/main" id="{999C5408-6AA2-44CB-81CD-4C6159DB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62865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using System;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class Program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static void Main()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{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Console.WriteLine("Hello, C#");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}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5" name="structure-notes">
            <a:extLst xmlns:a="http://schemas.openxmlformats.org/drawingml/2006/main">
              <a:ext uri="{FF2B5EF4-FFF2-40B4-BE49-F238E27FC236}">
                <a16:creationId xmlns:a16="http://schemas.microsoft.com/office/drawing/2014/main" id="{936A07C1-3ED6-480E-9203-6B11802A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33550"/>
            <a:ext cx="3905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using: 사용할 기능을 가져옴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class: 코드를 묶는 단위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Main: 프로그램이 시작되는 곳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{ } 안에 실행할 코드를 작성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문장 끝에는 ; 사용</a:t>
            </a:r>
          </a:p>
        </p:txBody>
      </p:sp>
    </p:spTree>
    <p:extLst>
      <p:ext uri="{BB962C8B-B14F-4D97-AF65-F5344CB8AC3E}">
        <p14:creationId xmlns:p14="http://schemas.microsoft.com/office/powerpoint/2010/main" val="1211017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6">
            <a:extLst xmlns:a="http://schemas.openxmlformats.org/drawingml/2006/main">
              <a:ext uri="{FF2B5EF4-FFF2-40B4-BE49-F238E27FC236}">
                <a16:creationId xmlns:a16="http://schemas.microsoft.com/office/drawing/2014/main" id="{04070D4C-1D94-4178-B266-05E40AA8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코드 작성 순서</a:t>
            </a:r>
          </a:p>
        </p:txBody>
      </p:sp>
      <p:sp>
        <p:nvSpPr>
          <p:cNvPr id="2" name="rule-6">
            <a:extLst xmlns:a="http://schemas.openxmlformats.org/drawingml/2006/main">
              <a:ext uri="{FF2B5EF4-FFF2-40B4-BE49-F238E27FC236}">
                <a16:creationId xmlns:a16="http://schemas.microsoft.com/office/drawing/2014/main" id="{DC55299D-AFF8-40FD-9099-FA9EEECC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5B84829E-B2CD-4864-87C2-2AAAE403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" name="flow-num-0">
            <a:extLst xmlns:a="http://schemas.openxmlformats.org/drawingml/2006/main">
              <a:ext uri="{FF2B5EF4-FFF2-40B4-BE49-F238E27FC236}">
                <a16:creationId xmlns:a16="http://schemas.microsoft.com/office/drawing/2014/main" id="{19E40719-C7A4-4BB5-9E28-56FE7532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2959E599-061C-4EC4-817E-BE49BC9E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621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6" name="flow-body-0">
            <a:extLst xmlns:a="http://schemas.openxmlformats.org/drawingml/2006/main">
              <a:ext uri="{FF2B5EF4-FFF2-40B4-BE49-F238E27FC236}">
                <a16:creationId xmlns:a16="http://schemas.microsoft.com/office/drawing/2014/main" id="{6A8EC0F5-2FC7-467F-96FB-8660B60B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621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플레이어가 무엇을 했는가</a:t>
            </a:r>
          </a:p>
        </p:txBody>
      </p:sp>
      <p:sp>
        <p:nvSpPr>
          <p:cNvPr id="7" name="flow-rule-0">
            <a:extLst xmlns:a="http://schemas.openxmlformats.org/drawingml/2006/main">
              <a:ext uri="{FF2B5EF4-FFF2-40B4-BE49-F238E27FC236}">
                <a16:creationId xmlns:a16="http://schemas.microsoft.com/office/drawing/2014/main" id="{7F542B72-6801-411F-A556-A1014A27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71700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num-1">
            <a:extLst xmlns:a="http://schemas.openxmlformats.org/drawingml/2006/main">
              <a:ext uri="{FF2B5EF4-FFF2-40B4-BE49-F238E27FC236}">
                <a16:creationId xmlns:a16="http://schemas.microsoft.com/office/drawing/2014/main" id="{A15927D6-AD87-40CB-B5AB-EE417511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AE0094D8-C829-44D9-BF45-F2779EEE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527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상태 변경</a:t>
            </a:r>
          </a:p>
        </p:txBody>
      </p:sp>
      <p:sp>
        <p:nvSpPr>
          <p:cNvPr id="10" name="flow-body-1">
            <a:extLst xmlns:a="http://schemas.openxmlformats.org/drawingml/2006/main">
              <a:ext uri="{FF2B5EF4-FFF2-40B4-BE49-F238E27FC236}">
                <a16:creationId xmlns:a16="http://schemas.microsoft.com/office/drawing/2014/main" id="{348F5D8D-9698-42C3-BA45-5384C705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체력·점수·위치가 어떻게 바뀌는가</a:t>
            </a:r>
          </a:p>
        </p:txBody>
      </p:sp>
      <p:sp>
        <p:nvSpPr>
          <p:cNvPr id="11" name="flow-rule-1">
            <a:extLst xmlns:a="http://schemas.openxmlformats.org/drawingml/2006/main">
              <a:ext uri="{FF2B5EF4-FFF2-40B4-BE49-F238E27FC236}">
                <a16:creationId xmlns:a16="http://schemas.microsoft.com/office/drawing/2014/main" id="{0876DA18-758B-4D76-8385-52456808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62300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low-num-2">
            <a:extLst xmlns:a="http://schemas.openxmlformats.org/drawingml/2006/main">
              <a:ext uri="{FF2B5EF4-FFF2-40B4-BE49-F238E27FC236}">
                <a16:creationId xmlns:a16="http://schemas.microsoft.com/office/drawing/2014/main" id="{B3723A2F-61F8-4222-BD6D-7153C005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3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8D5A5B5B-B0E9-4F5D-ABC6-F761A5F3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43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규칙 판단</a:t>
            </a:r>
          </a:p>
        </p:txBody>
      </p:sp>
      <p:sp>
        <p:nvSpPr>
          <p:cNvPr id="14" name="flow-body-2">
            <a:extLst xmlns:a="http://schemas.openxmlformats.org/drawingml/2006/main">
              <a:ext uri="{FF2B5EF4-FFF2-40B4-BE49-F238E27FC236}">
                <a16:creationId xmlns:a16="http://schemas.microsoft.com/office/drawing/2014/main" id="{6872EC1D-43DC-438C-8A33-4E5D68FD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433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승리·사망·공격 가능 여부</a:t>
            </a:r>
          </a:p>
        </p:txBody>
      </p:sp>
      <p:sp>
        <p:nvSpPr>
          <p:cNvPr id="15" name="flow-rule-2">
            <a:extLst xmlns:a="http://schemas.openxmlformats.org/drawingml/2006/main">
              <a:ext uri="{FF2B5EF4-FFF2-40B4-BE49-F238E27FC236}">
                <a16:creationId xmlns:a16="http://schemas.microsoft.com/office/drawing/2014/main" id="{378C2A38-53E3-453C-8ABF-987136C5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52900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num-3">
            <a:extLst xmlns:a="http://schemas.openxmlformats.org/drawingml/2006/main">
              <a:ext uri="{FF2B5EF4-FFF2-40B4-BE49-F238E27FC236}">
                <a16:creationId xmlns:a16="http://schemas.microsoft.com/office/drawing/2014/main" id="{ECFC6355-B02F-48C5-BEEA-75064AC4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079073EE-FE68-46CF-85EF-24383D04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339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결과 출력</a:t>
            </a:r>
          </a:p>
        </p:txBody>
      </p:sp>
      <p:sp>
        <p:nvSpPr>
          <p:cNvPr id="18" name="flow-body-3">
            <a:extLst xmlns:a="http://schemas.openxmlformats.org/drawingml/2006/main">
              <a:ext uri="{FF2B5EF4-FFF2-40B4-BE49-F238E27FC236}">
                <a16:creationId xmlns:a16="http://schemas.microsoft.com/office/drawing/2014/main" id="{0F11D9FB-597B-4AC6-AA59-032AEE7B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33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화면에 어떤 결과를 보여줄 것인가</a:t>
            </a:r>
          </a:p>
        </p:txBody>
      </p:sp>
      <p:sp>
        <p:nvSpPr>
          <p:cNvPr id="19" name="flow-example">
            <a:extLst xmlns:a="http://schemas.openxmlformats.org/drawingml/2006/main">
              <a:ext uri="{FF2B5EF4-FFF2-40B4-BE49-F238E27FC236}">
                <a16:creationId xmlns:a16="http://schemas.microsoft.com/office/drawing/2014/main" id="{42C4F435-59D8-4EE9-9DE6-F320B09E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공격 입력 → 몬스터 체력 감소 → 사망 확인 → 남은 체력 출력</a:t>
            </a:r>
          </a:p>
        </p:txBody>
      </p:sp>
    </p:spTree>
    <p:extLst>
      <p:ext uri="{BB962C8B-B14F-4D97-AF65-F5344CB8AC3E}">
        <p14:creationId xmlns:p14="http://schemas.microsoft.com/office/powerpoint/2010/main" val="12112888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7">
            <a:extLst xmlns:a="http://schemas.openxmlformats.org/drawingml/2006/main">
              <a:ext uri="{FF2B5EF4-FFF2-40B4-BE49-F238E27FC236}">
                <a16:creationId xmlns:a16="http://schemas.microsoft.com/office/drawing/2014/main" id="{3D8C194C-A210-4D43-A700-D70D9D5F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오늘 사용할 C# 기능</a:t>
            </a:r>
          </a:p>
        </p:txBody>
      </p:sp>
      <p:sp>
        <p:nvSpPr>
          <p:cNvPr id="2" name="rule-7">
            <a:extLst xmlns:a="http://schemas.openxmlformats.org/drawingml/2006/main">
              <a:ext uri="{FF2B5EF4-FFF2-40B4-BE49-F238E27FC236}">
                <a16:creationId xmlns:a16="http://schemas.microsoft.com/office/drawing/2014/main" id="{0E3924A4-9136-4DAF-B2C5-53A5A63A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9BD0566B-5A5B-44E9-8688-EA4D9753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4" name="feature-role-0">
            <a:extLst xmlns:a="http://schemas.openxmlformats.org/drawingml/2006/main">
              <a:ext uri="{FF2B5EF4-FFF2-40B4-BE49-F238E27FC236}">
                <a16:creationId xmlns:a16="http://schemas.microsoft.com/office/drawing/2014/main" id="{0CEDBA98-5407-4F6D-ADF2-ABCB3E6F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값 저장</a:t>
            </a:r>
          </a:p>
        </p:txBody>
      </p:sp>
      <p:sp>
        <p:nvSpPr>
          <p:cNvPr id="5" name="feature-name-0">
            <a:extLst xmlns:a="http://schemas.openxmlformats.org/drawingml/2006/main">
              <a:ext uri="{FF2B5EF4-FFF2-40B4-BE49-F238E27FC236}">
                <a16:creationId xmlns:a16="http://schemas.microsoft.com/office/drawing/2014/main" id="{5821FBF8-B095-4E51-B921-4523249E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049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변수와 자료형</a:t>
            </a:r>
          </a:p>
        </p:txBody>
      </p:sp>
      <p:sp>
        <p:nvSpPr>
          <p:cNvPr id="6" name="feature-role-1">
            <a:extLst xmlns:a="http://schemas.openxmlformats.org/drawingml/2006/main">
              <a:ext uri="{FF2B5EF4-FFF2-40B4-BE49-F238E27FC236}">
                <a16:creationId xmlns:a16="http://schemas.microsoft.com/office/drawing/2014/main" id="{F8E968FD-0367-4E59-A74E-478C85C3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계산</a:t>
            </a:r>
          </a:p>
        </p:txBody>
      </p:sp>
      <p:sp>
        <p:nvSpPr>
          <p:cNvPr id="7" name="feature-name-1">
            <a:extLst xmlns:a="http://schemas.openxmlformats.org/drawingml/2006/main">
              <a:ext uri="{FF2B5EF4-FFF2-40B4-BE49-F238E27FC236}">
                <a16:creationId xmlns:a16="http://schemas.microsoft.com/office/drawing/2014/main" id="{FA90567B-3922-4C29-9B21-45A1CF6A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431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연산자</a:t>
            </a:r>
          </a:p>
        </p:txBody>
      </p:sp>
      <p:sp>
        <p:nvSpPr>
          <p:cNvPr id="8" name="feature-role-2">
            <a:extLst xmlns:a="http://schemas.openxmlformats.org/drawingml/2006/main">
              <a:ext uri="{FF2B5EF4-FFF2-40B4-BE49-F238E27FC236}">
                <a16:creationId xmlns:a16="http://schemas.microsoft.com/office/drawing/2014/main" id="{FDFBD4F1-30A1-4F8C-ACCB-D5F361E7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선택</a:t>
            </a:r>
          </a:p>
        </p:txBody>
      </p:sp>
      <p:sp>
        <p:nvSpPr>
          <p:cNvPr id="9" name="feature-name-2">
            <a:extLst xmlns:a="http://schemas.openxmlformats.org/drawingml/2006/main">
              <a:ext uri="{FF2B5EF4-FFF2-40B4-BE49-F238E27FC236}">
                <a16:creationId xmlns:a16="http://schemas.microsoft.com/office/drawing/2014/main" id="{C63769BB-B276-419B-AE2A-2A86BA81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813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if · else · switch</a:t>
            </a:r>
          </a:p>
        </p:txBody>
      </p:sp>
      <p:sp>
        <p:nvSpPr>
          <p:cNvPr id="10" name="feature-role-3">
            <a:extLst xmlns:a="http://schemas.openxmlformats.org/drawingml/2006/main">
              <a:ext uri="{FF2B5EF4-FFF2-40B4-BE49-F238E27FC236}">
                <a16:creationId xmlns:a16="http://schemas.microsoft.com/office/drawing/2014/main" id="{6C75546B-6A6D-4360-92EE-FCCE1946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반복</a:t>
            </a:r>
          </a:p>
        </p:txBody>
      </p:sp>
      <p:sp>
        <p:nvSpPr>
          <p:cNvPr id="11" name="feature-name-3">
            <a:extLst xmlns:a="http://schemas.openxmlformats.org/drawingml/2006/main">
              <a:ext uri="{FF2B5EF4-FFF2-40B4-BE49-F238E27FC236}">
                <a16:creationId xmlns:a16="http://schemas.microsoft.com/office/drawing/2014/main" id="{D4C8D653-F457-49E0-8FE2-5F284682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195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for · while</a:t>
            </a:r>
          </a:p>
        </p:txBody>
      </p:sp>
      <p:sp>
        <p:nvSpPr>
          <p:cNvPr id="12" name="feature-role-4">
            <a:extLst xmlns:a="http://schemas.openxmlformats.org/drawingml/2006/main">
              <a:ext uri="{FF2B5EF4-FFF2-40B4-BE49-F238E27FC236}">
                <a16:creationId xmlns:a16="http://schemas.microsoft.com/office/drawing/2014/main" id="{3A4DA78B-4C46-4099-8ABE-2C9FF7E4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입력과 출력</a:t>
            </a:r>
          </a:p>
        </p:txBody>
      </p:sp>
      <p:sp>
        <p:nvSpPr>
          <p:cNvPr id="13" name="feature-name-4">
            <a:extLst xmlns:a="http://schemas.openxmlformats.org/drawingml/2006/main">
              <a:ext uri="{FF2B5EF4-FFF2-40B4-BE49-F238E27FC236}">
                <a16:creationId xmlns:a16="http://schemas.microsoft.com/office/drawing/2014/main" id="{CEA9DBA5-598C-48D5-B5F0-5BEB6CEA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577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Console.ReadLine · WriteLine</a:t>
            </a:r>
          </a:p>
        </p:txBody>
      </p:sp>
      <p:sp>
        <p:nvSpPr>
          <p:cNvPr id="14" name="feature-role-5">
            <a:extLst xmlns:a="http://schemas.openxmlformats.org/drawingml/2006/main">
              <a:ext uri="{FF2B5EF4-FFF2-40B4-BE49-F238E27FC236}">
                <a16:creationId xmlns:a16="http://schemas.microsoft.com/office/drawing/2014/main" id="{30033C0F-0FAD-4AB4-815D-688E9081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코드 분리</a:t>
            </a:r>
          </a:p>
        </p:txBody>
      </p:sp>
      <p:sp>
        <p:nvSpPr>
          <p:cNvPr id="15" name="feature-name-5">
            <a:extLst xmlns:a="http://schemas.openxmlformats.org/drawingml/2006/main">
              <a:ext uri="{FF2B5EF4-FFF2-40B4-BE49-F238E27FC236}">
                <a16:creationId xmlns:a16="http://schemas.microsoft.com/office/drawing/2014/main" id="{D9E665B3-0124-4FC7-BC3B-165FBB31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049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메서드 · 매개변수 · return</a:t>
            </a:r>
          </a:p>
        </p:txBody>
      </p:sp>
      <p:sp>
        <p:nvSpPr>
          <p:cNvPr id="16" name="feature-role-6">
            <a:extLst xmlns:a="http://schemas.openxmlformats.org/drawingml/2006/main">
              <a:ext uri="{FF2B5EF4-FFF2-40B4-BE49-F238E27FC236}">
                <a16:creationId xmlns:a16="http://schemas.microsoft.com/office/drawing/2014/main" id="{242B48D2-6D99-44C4-A17A-F16174B2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여러 값 관리</a:t>
            </a:r>
          </a:p>
        </p:txBody>
      </p:sp>
      <p:sp>
        <p:nvSpPr>
          <p:cNvPr id="17" name="feature-name-6">
            <a:extLst xmlns:a="http://schemas.openxmlformats.org/drawingml/2006/main">
              <a:ext uri="{FF2B5EF4-FFF2-40B4-BE49-F238E27FC236}">
                <a16:creationId xmlns:a16="http://schemas.microsoft.com/office/drawing/2014/main" id="{6AD080F9-FDC8-4ABE-B4EB-61478EE6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배열 · List</a:t>
            </a:r>
          </a:p>
        </p:txBody>
      </p:sp>
      <p:sp>
        <p:nvSpPr>
          <p:cNvPr id="18" name="feature-role-7">
            <a:extLst xmlns:a="http://schemas.openxmlformats.org/drawingml/2006/main">
              <a:ext uri="{FF2B5EF4-FFF2-40B4-BE49-F238E27FC236}">
                <a16:creationId xmlns:a16="http://schemas.microsoft.com/office/drawing/2014/main" id="{F65E27AC-313C-4491-856E-42EB6C3C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데이터와 동작</a:t>
            </a:r>
          </a:p>
        </p:txBody>
      </p:sp>
      <p:sp>
        <p:nvSpPr>
          <p:cNvPr id="19" name="feature-name-7">
            <a:extLst xmlns:a="http://schemas.openxmlformats.org/drawingml/2006/main">
              <a:ext uri="{FF2B5EF4-FFF2-40B4-BE49-F238E27FC236}">
                <a16:creationId xmlns:a16="http://schemas.microsoft.com/office/drawing/2014/main" id="{469E1C99-A854-41D4-AA5C-9B5B58C2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클래스 · 객체</a:t>
            </a:r>
          </a:p>
        </p:txBody>
      </p:sp>
      <p:sp>
        <p:nvSpPr>
          <p:cNvPr id="20" name="feature-role-8">
            <a:extLst xmlns:a="http://schemas.openxmlformats.org/drawingml/2006/main">
              <a:ext uri="{FF2B5EF4-FFF2-40B4-BE49-F238E27FC236}">
                <a16:creationId xmlns:a16="http://schemas.microsoft.com/office/drawing/2014/main" id="{568FF5AC-9512-4F06-8A24-9E69B2C5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무작위 결과</a:t>
            </a:r>
          </a:p>
        </p:txBody>
      </p:sp>
      <p:sp>
        <p:nvSpPr>
          <p:cNvPr id="21" name="feature-name-8">
            <a:extLst xmlns:a="http://schemas.openxmlformats.org/drawingml/2006/main">
              <a:ext uri="{FF2B5EF4-FFF2-40B4-BE49-F238E27FC236}">
                <a16:creationId xmlns:a16="http://schemas.microsoft.com/office/drawing/2014/main" id="{B7BF1DA4-82F0-4C42-B78B-A75ABC72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195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Random</a:t>
            </a:r>
          </a:p>
        </p:txBody>
      </p:sp>
      <p:sp>
        <p:nvSpPr>
          <p:cNvPr id="22" name="feature-divider">
            <a:extLst xmlns:a="http://schemas.openxmlformats.org/drawingml/2006/main">
              <a:ext uri="{FF2B5EF4-FFF2-40B4-BE49-F238E27FC236}">
                <a16:creationId xmlns:a16="http://schemas.microsoft.com/office/drawing/2014/main" id="{0F193404-FE35-4EC1-B200-34C57B43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952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8701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8">
            <a:extLst xmlns:a="http://schemas.openxmlformats.org/drawingml/2006/main">
              <a:ext uri="{FF2B5EF4-FFF2-40B4-BE49-F238E27FC236}">
                <a16:creationId xmlns:a16="http://schemas.microsoft.com/office/drawing/2014/main" id="{82537521-937F-4CFC-94EC-8D6429EB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변수와 입력·출력</a:t>
            </a:r>
          </a:p>
        </p:txBody>
      </p:sp>
      <p:sp>
        <p:nvSpPr>
          <p:cNvPr id="2" name="rule-8">
            <a:extLst xmlns:a="http://schemas.openxmlformats.org/drawingml/2006/main">
              <a:ext uri="{FF2B5EF4-FFF2-40B4-BE49-F238E27FC236}">
                <a16:creationId xmlns:a16="http://schemas.microsoft.com/office/drawing/2014/main" id="{BAE4CE66-ECC3-47B7-9456-5EF5490C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C9D82C66-B88B-432F-9C3D-63B24312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4" name="var-code">
            <a:extLst xmlns:a="http://schemas.openxmlformats.org/drawingml/2006/main">
              <a:ext uri="{FF2B5EF4-FFF2-40B4-BE49-F238E27FC236}">
                <a16:creationId xmlns:a16="http://schemas.microsoft.com/office/drawing/2014/main" id="{FBDDCA2D-2EBD-46C5-84C1-6D5E1277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int hp = 30;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float speed = 4.5f;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bool isDead = false;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string name = "Player";</a:t>
            </a:r>
          </a:p>
        </p:txBody>
      </p:sp>
      <p:sp>
        <p:nvSpPr>
          <p:cNvPr id="5" name="io-code">
            <a:extLst xmlns:a="http://schemas.openxmlformats.org/drawingml/2006/main">
              <a:ext uri="{FF2B5EF4-FFF2-40B4-BE49-F238E27FC236}">
                <a16:creationId xmlns:a16="http://schemas.microsoft.com/office/drawing/2014/main" id="{A77B5D15-6A94-4F00-8109-FEC70597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429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Console.Write("행동을 입력하세요: ");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string input = Console.ReadLine();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Console.WriteLine($"선택: {input}");</a:t>
            </a:r>
          </a:p>
        </p:txBody>
      </p:sp>
      <p:sp>
        <p:nvSpPr>
          <p:cNvPr id="6" name="var-label">
            <a:extLst xmlns:a="http://schemas.openxmlformats.org/drawingml/2006/main">
              <a:ext uri="{FF2B5EF4-FFF2-40B4-BE49-F238E27FC236}">
                <a16:creationId xmlns:a16="http://schemas.microsoft.com/office/drawing/2014/main" id="{72D9EE85-E3FA-4381-8A3F-EC408F07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자료형에 맞는 값을 변수에 저장한다.</a:t>
            </a:r>
          </a:p>
        </p:txBody>
      </p:sp>
      <p:sp>
        <p:nvSpPr>
          <p:cNvPr id="7" name="io-label">
            <a:extLst xmlns:a="http://schemas.openxmlformats.org/drawingml/2006/main">
              <a:ext uri="{FF2B5EF4-FFF2-40B4-BE49-F238E27FC236}">
                <a16:creationId xmlns:a16="http://schemas.microsoft.com/office/drawing/2014/main" id="{147C31E0-8318-4F99-B9C4-62692CCA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입력한 값은 기본적으로 string이다.</a:t>
            </a:r>
          </a:p>
        </p:txBody>
      </p:sp>
      <p:sp>
        <p:nvSpPr>
          <p:cNvPr id="8" name="parse-code">
            <a:extLst xmlns:a="http://schemas.openxmlformats.org/drawingml/2006/main">
              <a:ext uri="{FF2B5EF4-FFF2-40B4-BE49-F238E27FC236}">
                <a16:creationId xmlns:a16="http://schemas.microsoft.com/office/drawing/2014/main" id="{CDB55796-0F4C-4DAB-BF63-6042E6C5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00650"/>
            <a:ext cx="695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int number = int.Parse(Console.ReadLine());</a:t>
            </a:r>
          </a:p>
        </p:txBody>
      </p:sp>
    </p:spTree>
    <p:extLst>
      <p:ext uri="{BB962C8B-B14F-4D97-AF65-F5344CB8AC3E}">
        <p14:creationId xmlns:p14="http://schemas.microsoft.com/office/powerpoint/2010/main" val="2435094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9">
            <a:extLst xmlns:a="http://schemas.openxmlformats.org/drawingml/2006/main">
              <a:ext uri="{FF2B5EF4-FFF2-40B4-BE49-F238E27FC236}">
                <a16:creationId xmlns:a16="http://schemas.microsoft.com/office/drawing/2014/main" id="{B9569285-B538-4D7C-9DA3-CF68BF58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조건문과 반복문</a:t>
            </a:r>
          </a:p>
        </p:txBody>
      </p:sp>
      <p:sp>
        <p:nvSpPr>
          <p:cNvPr id="2" name="rule-9">
            <a:extLst xmlns:a="http://schemas.openxmlformats.org/drawingml/2006/main">
              <a:ext uri="{FF2B5EF4-FFF2-40B4-BE49-F238E27FC236}">
                <a16:creationId xmlns:a16="http://schemas.microsoft.com/office/drawing/2014/main" id="{57247104-C668-448A-ABAD-23B3E158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36A4650C-7A4D-4921-98CC-C8521FEA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condition-code">
            <a:extLst xmlns:a="http://schemas.openxmlformats.org/drawingml/2006/main">
              <a:ext uri="{FF2B5EF4-FFF2-40B4-BE49-F238E27FC236}">
                <a16:creationId xmlns:a16="http://schemas.microsoft.com/office/drawing/2014/main" id="{DFCCAABD-3535-4801-9CC7-A57CC8F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53340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if (hp &lt;= 0)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Console.WriteLine("게임 오버");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else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Console.WriteLine($"체력: {hp}");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5" name="loop-code">
            <a:extLst xmlns:a="http://schemas.openxmlformats.org/drawingml/2006/main">
              <a:ext uri="{FF2B5EF4-FFF2-40B4-BE49-F238E27FC236}">
                <a16:creationId xmlns:a16="http://schemas.microsoft.com/office/drawing/2014/main" id="{4F95BF48-2FE2-4E15-813F-8C14C1C5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85900"/>
            <a:ext cx="51816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while (monsterHp &gt; 0)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monsterHp -= 5;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for (int i = 0; i &lt; 3; i++)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Console.WriteLine(i);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6" name="condition-label">
            <a:extLst xmlns:a="http://schemas.openxmlformats.org/drawingml/2006/main">
              <a:ext uri="{FF2B5EF4-FFF2-40B4-BE49-F238E27FC236}">
                <a16:creationId xmlns:a16="http://schemas.microsoft.com/office/drawing/2014/main" id="{7A45EDFA-97EA-4693-A917-7D564A8F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조건문: 실행할 코드를 선택</a:t>
            </a:r>
          </a:p>
        </p:txBody>
      </p:sp>
      <p:sp>
        <p:nvSpPr>
          <p:cNvPr id="7" name="loop-label">
            <a:extLst xmlns:a="http://schemas.openxmlformats.org/drawingml/2006/main">
              <a:ext uri="{FF2B5EF4-FFF2-40B4-BE49-F238E27FC236}">
                <a16:creationId xmlns:a16="http://schemas.microsoft.com/office/drawing/2014/main" id="{01748A78-D4CE-4311-B434-FB44817B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67350"/>
            <a:ext cx="518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반복문: 같은 작업을 반복</a:t>
            </a:r>
          </a:p>
        </p:txBody>
      </p:sp>
    </p:spTree>
    <p:extLst>
      <p:ext uri="{BB962C8B-B14F-4D97-AF65-F5344CB8AC3E}">
        <p14:creationId xmlns:p14="http://schemas.microsoft.com/office/powerpoint/2010/main" val="18693065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0">
            <a:extLst xmlns:a="http://schemas.openxmlformats.org/drawingml/2006/main">
              <a:ext uri="{FF2B5EF4-FFF2-40B4-BE49-F238E27FC236}">
                <a16:creationId xmlns:a16="http://schemas.microsoft.com/office/drawing/2014/main" id="{C152045E-D0F0-48F5-A321-0BF44356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메서드</a:t>
            </a:r>
          </a:p>
        </p:txBody>
      </p:sp>
      <p:sp>
        <p:nvSpPr>
          <p:cNvPr id="2" name="rule-10">
            <a:extLst xmlns:a="http://schemas.openxmlformats.org/drawingml/2006/main">
              <a:ext uri="{FF2B5EF4-FFF2-40B4-BE49-F238E27FC236}">
                <a16:creationId xmlns:a16="http://schemas.microsoft.com/office/drawing/2014/main" id="{F5CB4F41-6940-47A7-9C7A-53699B4C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3458DA04-6332-4DD5-B7E2-B4BD3416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4" name="method-code">
            <a:extLst xmlns:a="http://schemas.openxmlformats.org/drawingml/2006/main">
              <a:ext uri="{FF2B5EF4-FFF2-40B4-BE49-F238E27FC236}">
                <a16:creationId xmlns:a16="http://schemas.microsoft.com/office/drawing/2014/main" id="{C80787AF-0792-49DD-BB36-A1E87DA4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90650"/>
            <a:ext cx="7429500" cy="464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static int CalculateDamage(int attack, int defense)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int damage = attack - defense;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if (damage &lt; 1)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{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damage = 1;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return damage;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5" name="method-notes">
            <a:extLst xmlns:a="http://schemas.openxmlformats.org/drawingml/2006/main">
              <a:ext uri="{FF2B5EF4-FFF2-40B4-BE49-F238E27FC236}">
                <a16:creationId xmlns:a16="http://schemas.microsoft.com/office/drawing/2014/main" id="{8C77DA21-9AF4-4E71-9913-2A170989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28800"/>
            <a:ext cx="304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매개변수: 메서드가 받는 값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return: 메서드가 돌려주는 값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void: 돌려주는 값이 없음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반복되는 코드를 분리할 때 사용</a:t>
            </a:r>
          </a:p>
        </p:txBody>
      </p:sp>
    </p:spTree>
    <p:extLst>
      <p:ext uri="{BB962C8B-B14F-4D97-AF65-F5344CB8AC3E}">
        <p14:creationId xmlns:p14="http://schemas.microsoft.com/office/powerpoint/2010/main" val="10538323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1">
            <a:extLst xmlns:a="http://schemas.openxmlformats.org/drawingml/2006/main">
              <a:ext uri="{FF2B5EF4-FFF2-40B4-BE49-F238E27FC236}">
                <a16:creationId xmlns:a16="http://schemas.microsoft.com/office/drawing/2014/main" id="{EFA7F95A-00C5-4389-A2F6-CE1AFD7E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List, 클래스, Random</a:t>
            </a:r>
          </a:p>
        </p:txBody>
      </p:sp>
      <p:sp>
        <p:nvSpPr>
          <p:cNvPr id="2" name="rule-11">
            <a:extLst xmlns:a="http://schemas.openxmlformats.org/drawingml/2006/main">
              <a:ext uri="{FF2B5EF4-FFF2-40B4-BE49-F238E27FC236}">
                <a16:creationId xmlns:a16="http://schemas.microsoft.com/office/drawing/2014/main" id="{B8BD18C0-C61E-4B42-B69A-2D85CBA3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F9BBD2B2-822E-48EF-8A6B-084F9D0C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4" name="list-code">
            <a:extLst xmlns:a="http://schemas.openxmlformats.org/drawingml/2006/main">
              <a:ext uri="{FF2B5EF4-FFF2-40B4-BE49-F238E27FC236}">
                <a16:creationId xmlns:a16="http://schemas.microsoft.com/office/drawing/2014/main" id="{28E6FDF3-456F-47B3-B0AA-6473AC91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List&lt;string&gt; items = new();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items.Add("Potion");</a:t>
            </a:r>
          </a:p>
        </p:txBody>
      </p:sp>
      <p:sp>
        <p:nvSpPr>
          <p:cNvPr id="5" name="class-code">
            <a:extLst xmlns:a="http://schemas.openxmlformats.org/drawingml/2006/main">
              <a:ext uri="{FF2B5EF4-FFF2-40B4-BE49-F238E27FC236}">
                <a16:creationId xmlns:a16="http://schemas.microsoft.com/office/drawing/2014/main" id="{4746948F-F393-4494-AE06-EAE5343E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4305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class Monster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public int Hp = 20;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6" name="random-code">
            <a:extLst xmlns:a="http://schemas.openxmlformats.org/drawingml/2006/main">
              <a:ext uri="{FF2B5EF4-FFF2-40B4-BE49-F238E27FC236}">
                <a16:creationId xmlns:a16="http://schemas.microsoft.com/office/drawing/2014/main" id="{EFBC7198-805B-49AA-8492-22CA5143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43050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Random random = new();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int damage = random.Next(5, 11);</a:t>
            </a:r>
          </a:p>
        </p:txBody>
      </p:sp>
      <p:sp>
        <p:nvSpPr>
          <p:cNvPr id="7" name="list-desc">
            <a:extLst xmlns:a="http://schemas.openxmlformats.org/drawingml/2006/main">
              <a:ext uri="{FF2B5EF4-FFF2-40B4-BE49-F238E27FC236}">
                <a16:creationId xmlns:a16="http://schemas.microsoft.com/office/drawing/2014/main" id="{79438A19-2747-4879-AE3B-2288E8A1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여러 값을 추가·삭제하며 관리</a:t>
            </a:r>
          </a:p>
        </p:txBody>
      </p:sp>
      <p:sp>
        <p:nvSpPr>
          <p:cNvPr id="8" name="class-desc">
            <a:extLst xmlns:a="http://schemas.openxmlformats.org/drawingml/2006/main">
              <a:ext uri="{FF2B5EF4-FFF2-40B4-BE49-F238E27FC236}">
                <a16:creationId xmlns:a16="http://schemas.microsoft.com/office/drawing/2014/main" id="{89CA5009-DC80-48DF-B4EF-B9605438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005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데이터와 동작을 하나로 묶음</a:t>
            </a:r>
          </a:p>
        </p:txBody>
      </p:sp>
      <p:sp>
        <p:nvSpPr>
          <p:cNvPr id="9" name="random-desc">
            <a:extLst xmlns:a="http://schemas.openxmlformats.org/drawingml/2006/main">
              <a:ext uri="{FF2B5EF4-FFF2-40B4-BE49-F238E27FC236}">
                <a16:creationId xmlns:a16="http://schemas.microsoft.com/office/drawing/2014/main" id="{9B914F18-104E-4B0E-9C65-CEAD1A76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지정한 범위에서 무작위 값 생성</a:t>
            </a:r>
          </a:p>
        </p:txBody>
      </p:sp>
      <p:sp>
        <p:nvSpPr>
          <p:cNvPr id="10" name="feature-note">
            <a:extLst xmlns:a="http://schemas.openxmlformats.org/drawingml/2006/main">
              <a:ext uri="{FF2B5EF4-FFF2-40B4-BE49-F238E27FC236}">
                <a16:creationId xmlns:a16="http://schemas.microsoft.com/office/drawing/2014/main" id="{EC7C4813-6214-4E3B-B55E-BA1D0FBF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이 기능들을 하나의 콘솔 게임에서 연결한다.</a:t>
            </a:r>
          </a:p>
        </p:txBody>
      </p:sp>
    </p:spTree>
    <p:extLst>
      <p:ext uri="{BB962C8B-B14F-4D97-AF65-F5344CB8AC3E}">
        <p14:creationId xmlns:p14="http://schemas.microsoft.com/office/powerpoint/2010/main" val="21086887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2">
            <a:extLst xmlns:a="http://schemas.openxmlformats.org/drawingml/2006/main">
              <a:ext uri="{FF2B5EF4-FFF2-40B4-BE49-F238E27FC236}">
                <a16:creationId xmlns:a16="http://schemas.microsoft.com/office/drawing/2014/main" id="{600EB26E-2169-4021-B1BD-53B3E0DE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예제: 턴제 콘솔 전투 게임</a:t>
            </a:r>
          </a:p>
        </p:txBody>
      </p:sp>
      <p:sp>
        <p:nvSpPr>
          <p:cNvPr id="2" name="rule-12">
            <a:extLst xmlns:a="http://schemas.openxmlformats.org/drawingml/2006/main">
              <a:ext uri="{FF2B5EF4-FFF2-40B4-BE49-F238E27FC236}">
                <a16:creationId xmlns:a16="http://schemas.microsoft.com/office/drawing/2014/main" id="{F9D112D7-BEF7-465F-8E33-B8D8AB96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A8090C0E-EB32-4D86-A0EC-9D64F709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game-flow">
            <a:extLst xmlns:a="http://schemas.openxmlformats.org/drawingml/2006/main">
              <a:ext uri="{FF2B5EF4-FFF2-40B4-BE49-F238E27FC236}">
                <a16:creationId xmlns:a16="http://schemas.microsoft.com/office/drawing/2014/main" id="{5BE510D9-5749-4851-865D-806D7668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플레이어와 몬스터 객체 생성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공격 또는 회복 행동 입력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Random으로 피해량 계산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공격 후 체력과 사망 여부 확인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한쪽이 사망할 때까지 while 반복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승리 또는 게임 오버 출력</a:t>
            </a:r>
          </a:p>
        </p:txBody>
      </p:sp>
      <p:sp>
        <p:nvSpPr>
          <p:cNvPr id="5" name="game-features">
            <a:extLst xmlns:a="http://schemas.openxmlformats.org/drawingml/2006/main">
              <a:ext uri="{FF2B5EF4-FFF2-40B4-BE49-F238E27FC236}">
                <a16:creationId xmlns:a16="http://schemas.microsoft.com/office/drawing/2014/main" id="{8177F10E-AA13-4465-9377-A2BB2554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62100"/>
            <a:ext cx="3143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변수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입력·출력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조건문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반복문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메서드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List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클래스와 객체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Random</a:t>
            </a:r>
          </a:p>
        </p:txBody>
      </p:sp>
    </p:spTree>
    <p:extLst>
      <p:ext uri="{BB962C8B-B14F-4D97-AF65-F5344CB8AC3E}">
        <p14:creationId xmlns:p14="http://schemas.microsoft.com/office/powerpoint/2010/main" val="4319863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3">
            <a:extLst xmlns:a="http://schemas.openxmlformats.org/drawingml/2006/main">
              <a:ext uri="{FF2B5EF4-FFF2-40B4-BE49-F238E27FC236}">
                <a16:creationId xmlns:a16="http://schemas.microsoft.com/office/drawing/2014/main" id="{23D42937-6016-4AD7-9EAA-08D141E7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게임 코드 1 — Fighter 클래스</a:t>
            </a:r>
          </a:p>
        </p:txBody>
      </p:sp>
      <p:sp>
        <p:nvSpPr>
          <p:cNvPr id="2" name="rule-13">
            <a:extLst xmlns:a="http://schemas.openxmlformats.org/drawingml/2006/main">
              <a:ext uri="{FF2B5EF4-FFF2-40B4-BE49-F238E27FC236}">
                <a16:creationId xmlns:a16="http://schemas.microsoft.com/office/drawing/2014/main" id="{61B61DB2-7992-4631-9B23-841FCB45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BD786941-1AAF-4983-8FA8-2EEB5BE4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fighter-one">
            <a:extLst xmlns:a="http://schemas.openxmlformats.org/drawingml/2006/main">
              <a:ext uri="{FF2B5EF4-FFF2-40B4-BE49-F238E27FC236}">
                <a16:creationId xmlns:a16="http://schemas.microsoft.com/office/drawing/2014/main" id="{B9A9A234-3162-4A37-9CAF-29CE45A2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78105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using System;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using System.Collections.Generic;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class Fighter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public string Name;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public int Hp;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public int MaxHp;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public int Attack;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public List&lt;string&gt; Items = new() { "Potion" 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public Fighter(string name, int hp, int attack)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{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Name = name;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Hp = hp;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MaxHp = hp;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Attack = attack;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public bool IsDead()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{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return Hp &lt;= 0;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}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5" name="fighter-one-notes">
            <a:extLst xmlns:a="http://schemas.openxmlformats.org/drawingml/2006/main">
              <a:ext uri="{FF2B5EF4-FFF2-40B4-BE49-F238E27FC236}">
                <a16:creationId xmlns:a16="http://schemas.microsoft.com/office/drawing/2014/main" id="{5F82A553-72C5-4DCA-BE50-8F29030E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66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필드에 상태 저장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생성자로 처음 값 설정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List에 아이템 저장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IsDead로 사망 여부 확인</a:t>
            </a:r>
          </a:p>
        </p:txBody>
      </p:sp>
    </p:spTree>
    <p:extLst>
      <p:ext uri="{BB962C8B-B14F-4D97-AF65-F5344CB8AC3E}">
        <p14:creationId xmlns:p14="http://schemas.microsoft.com/office/powerpoint/2010/main" val="11046997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4">
            <a:extLst xmlns:a="http://schemas.openxmlformats.org/drawingml/2006/main">
              <a:ext uri="{FF2B5EF4-FFF2-40B4-BE49-F238E27FC236}">
                <a16:creationId xmlns:a16="http://schemas.microsoft.com/office/drawing/2014/main" id="{D8272D56-0013-4676-96B7-D16740EC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게임 코드 2 — Fighter 메서드</a:t>
            </a:r>
          </a:p>
        </p:txBody>
      </p:sp>
      <p:sp>
        <p:nvSpPr>
          <p:cNvPr id="2" name="rule-14">
            <a:extLst xmlns:a="http://schemas.openxmlformats.org/drawingml/2006/main">
              <a:ext uri="{FF2B5EF4-FFF2-40B4-BE49-F238E27FC236}">
                <a16:creationId xmlns:a16="http://schemas.microsoft.com/office/drawing/2014/main" id="{6E0E1E15-07E5-467B-A521-75872017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4">
            <a:extLst xmlns:a="http://schemas.openxmlformats.org/drawingml/2006/main">
              <a:ext uri="{FF2B5EF4-FFF2-40B4-BE49-F238E27FC236}">
                <a16:creationId xmlns:a16="http://schemas.microsoft.com/office/drawing/2014/main" id="{6B0B5DDF-BCA7-4D41-95C7-DC0BD3F0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4" name="fighter-two">
            <a:extLst xmlns:a="http://schemas.openxmlformats.org/drawingml/2006/main">
              <a:ext uri="{FF2B5EF4-FFF2-40B4-BE49-F238E27FC236}">
                <a16:creationId xmlns:a16="http://schemas.microsoft.com/office/drawing/2014/main" id="{3EEEA937-1B5C-4F33-B8D2-AA0D770C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72390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public int MakeDamage(Random random)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return random.Next(Attack - 2, Attack + 3);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public void TakeDamage(int damage)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Hp -= damage;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if (Hp &lt; 0) Hp = 0;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public bool UsePotion()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if (!Items.Contains("Potion")) return false;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Hp += 10;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if (Hp &gt; MaxHp) Hp = MaxHp;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Items.Remove("Potion");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return true;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5" name="fighter-two-notes">
            <a:extLst xmlns:a="http://schemas.openxmlformats.org/drawingml/2006/main">
              <a:ext uri="{FF2B5EF4-FFF2-40B4-BE49-F238E27FC236}">
                <a16:creationId xmlns:a16="http://schemas.microsoft.com/office/drawing/2014/main" id="{B54FBBA6-FFF9-4C6E-BF14-19C238D1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43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피해량을 무작위로 계산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체력이 0보다 작아지지 않게 처리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물약이 있을 때만 사용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최대 체력을 넘지 않게 회복</a:t>
            </a:r>
          </a:p>
        </p:txBody>
      </p:sp>
    </p:spTree>
    <p:extLst>
      <p:ext uri="{BB962C8B-B14F-4D97-AF65-F5344CB8AC3E}">
        <p14:creationId xmlns:p14="http://schemas.microsoft.com/office/powerpoint/2010/main" val="10562700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5">
            <a:extLst xmlns:a="http://schemas.openxmlformats.org/drawingml/2006/main">
              <a:ext uri="{FF2B5EF4-FFF2-40B4-BE49-F238E27FC236}">
                <a16:creationId xmlns:a16="http://schemas.microsoft.com/office/drawing/2014/main" id="{E97EDE4A-ECEC-45D1-A514-699D11D2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게임 코드 3 — 게임 시작과 반복</a:t>
            </a:r>
          </a:p>
        </p:txBody>
      </p:sp>
      <p:sp>
        <p:nvSpPr>
          <p:cNvPr id="2" name="rule-15">
            <a:extLst xmlns:a="http://schemas.openxmlformats.org/drawingml/2006/main">
              <a:ext uri="{FF2B5EF4-FFF2-40B4-BE49-F238E27FC236}">
                <a16:creationId xmlns:a16="http://schemas.microsoft.com/office/drawing/2014/main" id="{3574DBF1-1DD7-453E-83C6-CAB95299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5">
            <a:extLst xmlns:a="http://schemas.openxmlformats.org/drawingml/2006/main">
              <a:ext uri="{FF2B5EF4-FFF2-40B4-BE49-F238E27FC236}">
                <a16:creationId xmlns:a16="http://schemas.microsoft.com/office/drawing/2014/main" id="{1597D89C-722B-4E5F-BD73-B9A0CA39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main-one">
            <a:extLst xmlns:a="http://schemas.openxmlformats.org/drawingml/2006/main">
              <a:ext uri="{FF2B5EF4-FFF2-40B4-BE49-F238E27FC236}">
                <a16:creationId xmlns:a16="http://schemas.microsoft.com/office/drawing/2014/main" id="{0DB75459-59B4-40C8-B288-354EE248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7905750" cy="483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class Program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static void Main()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{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Random random = new();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Fighter player = new("Player", 30, 8);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Fighter monster = new("Slime", 25, 6);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while (!player.IsDead() &amp;&amp; !monster.IsDead())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{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Console.WriteLine($"플레이어: {player.Hp}");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Console.WriteLine($"몬스터: {monster.Hp}");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Console.Write("1. 공격  2. 회복: 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string input = Console.ReadLine();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if (input == "1")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{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    int damage = player.MakeDamage(random);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    monster.TakeDamage(damage);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    Console.WriteLine($"{damage} 피해");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}</a:t>
            </a:r>
          </a:p>
        </p:txBody>
      </p:sp>
      <p:sp>
        <p:nvSpPr>
          <p:cNvPr id="5" name="main-one-notes">
            <a:extLst xmlns:a="http://schemas.openxmlformats.org/drawingml/2006/main">
              <a:ext uri="{FF2B5EF4-FFF2-40B4-BE49-F238E27FC236}">
                <a16:creationId xmlns:a16="http://schemas.microsoft.com/office/drawing/2014/main" id="{923FD055-C267-4E58-BAB4-20A67353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28800"/>
            <a:ext cx="2381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객체 생성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while 전투 반복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행동 입력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공격 처리</a:t>
            </a:r>
          </a:p>
        </p:txBody>
      </p:sp>
    </p:spTree>
    <p:extLst>
      <p:ext uri="{BB962C8B-B14F-4D97-AF65-F5344CB8AC3E}">
        <p14:creationId xmlns:p14="http://schemas.microsoft.com/office/powerpoint/2010/main" val="8527878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6">
            <a:extLst xmlns:a="http://schemas.openxmlformats.org/drawingml/2006/main">
              <a:ext uri="{FF2B5EF4-FFF2-40B4-BE49-F238E27FC236}">
                <a16:creationId xmlns:a16="http://schemas.microsoft.com/office/drawing/2014/main" id="{D2437A44-E9F1-437C-A3A2-61A03E55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게임 코드 4 — 회복, 반격, 결과</a:t>
            </a:r>
          </a:p>
        </p:txBody>
      </p:sp>
      <p:sp>
        <p:nvSpPr>
          <p:cNvPr id="2" name="rule-16">
            <a:extLst xmlns:a="http://schemas.openxmlformats.org/drawingml/2006/main">
              <a:ext uri="{FF2B5EF4-FFF2-40B4-BE49-F238E27FC236}">
                <a16:creationId xmlns:a16="http://schemas.microsoft.com/office/drawing/2014/main" id="{803CC338-991E-4F74-ADB6-FA73322D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6">
            <a:extLst xmlns:a="http://schemas.openxmlformats.org/drawingml/2006/main">
              <a:ext uri="{FF2B5EF4-FFF2-40B4-BE49-F238E27FC236}">
                <a16:creationId xmlns:a16="http://schemas.microsoft.com/office/drawing/2014/main" id="{2BB430A5-4D8C-4A28-8F59-E38C60A8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4" name="main-two">
            <a:extLst xmlns:a="http://schemas.openxmlformats.org/drawingml/2006/main">
              <a:ext uri="{FF2B5EF4-FFF2-40B4-BE49-F238E27FC236}">
                <a16:creationId xmlns:a16="http://schemas.microsoft.com/office/drawing/2014/main" id="{E4FF9AD7-620F-4AC4-BA50-22CC3B74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7905750" cy="483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else if (input == "2")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{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    bool used = player.UsePotion();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    if (!used) Console.WriteLine("물약이 없습니다.");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}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else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{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    Console.WriteLine("다시 입력하세요.");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    continue;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if (!monster.IsDead())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{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    int damage = monster.MakeDamage(random);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    player.TakeDamage(damage);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    Console.WriteLine($"몬스터의 {damage} 피해");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}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if (monster.IsDead()) Console.WriteLine("승리");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else Console.WriteLine("게임 오버");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}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5" name="main-two-notes">
            <a:extLst xmlns:a="http://schemas.openxmlformats.org/drawingml/2006/main">
              <a:ext uri="{FF2B5EF4-FFF2-40B4-BE49-F238E27FC236}">
                <a16:creationId xmlns:a16="http://schemas.microsoft.com/office/drawing/2014/main" id="{D9948753-F82D-43A1-BAB4-8565501F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28800"/>
            <a:ext cx="2381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회복 처리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잘못된 입력 처리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몬스터 반격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반복 종료 후 결과 출력</a:t>
            </a:r>
          </a:p>
        </p:txBody>
      </p:sp>
    </p:spTree>
    <p:extLst>
      <p:ext uri="{BB962C8B-B14F-4D97-AF65-F5344CB8AC3E}">
        <p14:creationId xmlns:p14="http://schemas.microsoft.com/office/powerpoint/2010/main" val="20837147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7">
            <a:extLst xmlns:a="http://schemas.openxmlformats.org/drawingml/2006/main">
              <a:ext uri="{FF2B5EF4-FFF2-40B4-BE49-F238E27FC236}">
                <a16:creationId xmlns:a16="http://schemas.microsoft.com/office/drawing/2014/main" id="{BF925875-BCDA-4CA8-98B5-28026DB9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기능 추가하기</a:t>
            </a:r>
          </a:p>
        </p:txBody>
      </p:sp>
      <p:sp>
        <p:nvSpPr>
          <p:cNvPr id="2" name="rule-17">
            <a:extLst xmlns:a="http://schemas.openxmlformats.org/drawingml/2006/main">
              <a:ext uri="{FF2B5EF4-FFF2-40B4-BE49-F238E27FC236}">
                <a16:creationId xmlns:a16="http://schemas.microsoft.com/office/drawing/2014/main" id="{C3F378AB-21A8-4C74-93D1-1FFA7E94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7">
            <a:extLst xmlns:a="http://schemas.openxmlformats.org/drawingml/2006/main">
              <a:ext uri="{FF2B5EF4-FFF2-40B4-BE49-F238E27FC236}">
                <a16:creationId xmlns:a16="http://schemas.microsoft.com/office/drawing/2014/main" id="{70905552-CD53-4BE5-AFDC-CEB703F0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extend-title-0">
            <a:extLst xmlns:a="http://schemas.openxmlformats.org/drawingml/2006/main">
              <a:ext uri="{FF2B5EF4-FFF2-40B4-BE49-F238E27FC236}">
                <a16:creationId xmlns:a16="http://schemas.microsoft.com/office/drawing/2014/main" id="{499061B7-B67C-4593-976D-41BEC4A2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치명타</a:t>
            </a:r>
          </a:p>
        </p:txBody>
      </p:sp>
      <p:sp>
        <p:nvSpPr>
          <p:cNvPr id="5" name="extend-body-0">
            <a:extLst xmlns:a="http://schemas.openxmlformats.org/drawingml/2006/main">
              <a:ext uri="{FF2B5EF4-FFF2-40B4-BE49-F238E27FC236}">
                <a16:creationId xmlns:a16="http://schemas.microsoft.com/office/drawing/2014/main" id="{B628539F-CF69-43EB-9E86-02A6996A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668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일정 확률로 피해량 2배</a:t>
            </a:r>
          </a:p>
        </p:txBody>
      </p:sp>
      <p:sp>
        <p:nvSpPr>
          <p:cNvPr id="6" name="extend-rule-0">
            <a:extLst xmlns:a="http://schemas.openxmlformats.org/drawingml/2006/main">
              <a:ext uri="{FF2B5EF4-FFF2-40B4-BE49-F238E27FC236}">
                <a16:creationId xmlns:a16="http://schemas.microsoft.com/office/drawing/2014/main" id="{B4475F40-017A-4A9D-A3FC-1E35377A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xtend-title-1">
            <a:extLst xmlns:a="http://schemas.openxmlformats.org/drawingml/2006/main">
              <a:ext uri="{FF2B5EF4-FFF2-40B4-BE49-F238E27FC236}">
                <a16:creationId xmlns:a16="http://schemas.microsoft.com/office/drawing/2014/main" id="{BC2AA52F-F608-4E0A-9498-9F4FA852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방어</a:t>
            </a:r>
          </a:p>
        </p:txBody>
      </p:sp>
      <p:sp>
        <p:nvSpPr>
          <p:cNvPr id="8" name="extend-body-1">
            <a:extLst xmlns:a="http://schemas.openxmlformats.org/drawingml/2006/main">
              <a:ext uri="{FF2B5EF4-FFF2-40B4-BE49-F238E27FC236}">
                <a16:creationId xmlns:a16="http://schemas.microsoft.com/office/drawing/2014/main" id="{D6904626-7153-44DB-8A85-58638F36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098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이번 턴에 받는 피해 감소</a:t>
            </a:r>
          </a:p>
        </p:txBody>
      </p:sp>
      <p:sp>
        <p:nvSpPr>
          <p:cNvPr id="9" name="extend-rule-1">
            <a:extLst xmlns:a="http://schemas.openxmlformats.org/drawingml/2006/main">
              <a:ext uri="{FF2B5EF4-FFF2-40B4-BE49-F238E27FC236}">
                <a16:creationId xmlns:a16="http://schemas.microsoft.com/office/drawing/2014/main" id="{05649D87-2A19-4267-8609-8312D8AF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xtend-title-2">
            <a:extLst xmlns:a="http://schemas.openxmlformats.org/drawingml/2006/main">
              <a:ext uri="{FF2B5EF4-FFF2-40B4-BE49-F238E27FC236}">
                <a16:creationId xmlns:a16="http://schemas.microsoft.com/office/drawing/2014/main" id="{A968198D-6D2F-4879-8092-2252A287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난이도</a:t>
            </a:r>
          </a:p>
        </p:txBody>
      </p:sp>
      <p:sp>
        <p:nvSpPr>
          <p:cNvPr id="11" name="extend-body-2">
            <a:extLst xmlns:a="http://schemas.openxmlformats.org/drawingml/2006/main">
              <a:ext uri="{FF2B5EF4-FFF2-40B4-BE49-F238E27FC236}">
                <a16:creationId xmlns:a16="http://schemas.microsoft.com/office/drawing/2014/main" id="{321FA2D2-8AAF-41BE-A9D8-3D716967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527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3턴마다 몬스터 공격력 증가</a:t>
            </a:r>
          </a:p>
        </p:txBody>
      </p:sp>
      <p:sp>
        <p:nvSpPr>
          <p:cNvPr id="12" name="extend-rule-2">
            <a:extLst xmlns:a="http://schemas.openxmlformats.org/drawingml/2006/main">
              <a:ext uri="{FF2B5EF4-FFF2-40B4-BE49-F238E27FC236}">
                <a16:creationId xmlns:a16="http://schemas.microsoft.com/office/drawing/2014/main" id="{994C87A0-8EA1-42DB-A082-09AC1BA0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xtend-title-3">
            <a:extLst xmlns:a="http://schemas.openxmlformats.org/drawingml/2006/main">
              <a:ext uri="{FF2B5EF4-FFF2-40B4-BE49-F238E27FC236}">
                <a16:creationId xmlns:a16="http://schemas.microsoft.com/office/drawing/2014/main" id="{BA7FB46C-B5A9-42F9-9D1A-75B01597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아이템</a:t>
            </a:r>
          </a:p>
        </p:txBody>
      </p:sp>
      <p:sp>
        <p:nvSpPr>
          <p:cNvPr id="14" name="extend-body-3">
            <a:extLst xmlns:a="http://schemas.openxmlformats.org/drawingml/2006/main">
              <a:ext uri="{FF2B5EF4-FFF2-40B4-BE49-F238E27FC236}">
                <a16:creationId xmlns:a16="http://schemas.microsoft.com/office/drawing/2014/main" id="{428CEE1A-7D07-4AE0-8C2F-62E62535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957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물약 또는 공격 강화 아이템 추가</a:t>
            </a:r>
          </a:p>
        </p:txBody>
      </p:sp>
      <p:sp>
        <p:nvSpPr>
          <p:cNvPr id="15" name="extend-rule-3">
            <a:extLst xmlns:a="http://schemas.openxmlformats.org/drawingml/2006/main">
              <a:ext uri="{FF2B5EF4-FFF2-40B4-BE49-F238E27FC236}">
                <a16:creationId xmlns:a16="http://schemas.microsoft.com/office/drawing/2014/main" id="{23E7E517-1D35-4F55-9590-72EAFFE7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xtend-title-4">
            <a:extLst xmlns:a="http://schemas.openxmlformats.org/drawingml/2006/main">
              <a:ext uri="{FF2B5EF4-FFF2-40B4-BE49-F238E27FC236}">
                <a16:creationId xmlns:a16="http://schemas.microsoft.com/office/drawing/2014/main" id="{3EBF52A8-D27B-480F-87CE-8C106818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연속 전투</a:t>
            </a:r>
          </a:p>
        </p:txBody>
      </p:sp>
      <p:sp>
        <p:nvSpPr>
          <p:cNvPr id="17" name="extend-body-4">
            <a:extLst xmlns:a="http://schemas.openxmlformats.org/drawingml/2006/main">
              <a:ext uri="{FF2B5EF4-FFF2-40B4-BE49-F238E27FC236}">
                <a16:creationId xmlns:a16="http://schemas.microsoft.com/office/drawing/2014/main" id="{A9E5D8A3-6931-4F01-AB6D-2D088F02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386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몬스터를 여러 마리 생성</a:t>
            </a:r>
          </a:p>
        </p:txBody>
      </p:sp>
      <p:sp>
        <p:nvSpPr>
          <p:cNvPr id="18" name="extend-rule-4">
            <a:extLst xmlns:a="http://schemas.openxmlformats.org/drawingml/2006/main">
              <a:ext uri="{FF2B5EF4-FFF2-40B4-BE49-F238E27FC236}">
                <a16:creationId xmlns:a16="http://schemas.microsoft.com/office/drawing/2014/main" id="{5D8752FB-D792-43B3-9207-DCC669F0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xtend-title-5">
            <a:extLst xmlns:a="http://schemas.openxmlformats.org/drawingml/2006/main">
              <a:ext uri="{FF2B5EF4-FFF2-40B4-BE49-F238E27FC236}">
                <a16:creationId xmlns:a16="http://schemas.microsoft.com/office/drawing/2014/main" id="{43A2B11C-B9BF-4503-AAB0-39D1C0AF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자유 기능</a:t>
            </a:r>
          </a:p>
        </p:txBody>
      </p:sp>
      <p:sp>
        <p:nvSpPr>
          <p:cNvPr id="20" name="extend-body-5">
            <a:extLst xmlns:a="http://schemas.openxmlformats.org/drawingml/2006/main">
              <a:ext uri="{FF2B5EF4-FFF2-40B4-BE49-F238E27FC236}">
                <a16:creationId xmlns:a16="http://schemas.microsoft.com/office/drawing/2014/main" id="{0113AE03-7522-415C-A848-4DE8C2EF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816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원하는 규칙을 직접 설계하고 추가</a:t>
            </a:r>
          </a:p>
        </p:txBody>
      </p:sp>
    </p:spTree>
    <p:extLst>
      <p:ext uri="{BB962C8B-B14F-4D97-AF65-F5344CB8AC3E}">
        <p14:creationId xmlns:p14="http://schemas.microsoft.com/office/powerpoint/2010/main" val="11999008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8">
            <a:extLst xmlns:a="http://schemas.openxmlformats.org/drawingml/2006/main">
              <a:ext uri="{FF2B5EF4-FFF2-40B4-BE49-F238E27FC236}">
                <a16:creationId xmlns:a16="http://schemas.microsoft.com/office/drawing/2014/main" id="{33D82558-2E6B-4D99-97B3-C0B45C2E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Git에 올리기</a:t>
            </a:r>
          </a:p>
        </p:txBody>
      </p:sp>
      <p:sp>
        <p:nvSpPr>
          <p:cNvPr id="2" name="rule-18">
            <a:extLst xmlns:a="http://schemas.openxmlformats.org/drawingml/2006/main">
              <a:ext uri="{FF2B5EF4-FFF2-40B4-BE49-F238E27FC236}">
                <a16:creationId xmlns:a16="http://schemas.microsoft.com/office/drawing/2014/main" id="{44602E1B-FF4D-4597-BD00-9E00999D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8">
            <a:extLst xmlns:a="http://schemas.openxmlformats.org/drawingml/2006/main">
              <a:ext uri="{FF2B5EF4-FFF2-40B4-BE49-F238E27FC236}">
                <a16:creationId xmlns:a16="http://schemas.microsoft.com/office/drawing/2014/main" id="{E4A2E0C1-2A89-4ADF-B8A0-65B254D6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4" name="git-num-0">
            <a:extLst xmlns:a="http://schemas.openxmlformats.org/drawingml/2006/main">
              <a:ext uri="{FF2B5EF4-FFF2-40B4-BE49-F238E27FC236}">
                <a16:creationId xmlns:a16="http://schemas.microsoft.com/office/drawing/2014/main" id="{67F06737-FBBF-4BBD-8603-652D6C15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" name="git-step-0">
            <a:extLst xmlns:a="http://schemas.openxmlformats.org/drawingml/2006/main">
              <a:ext uri="{FF2B5EF4-FFF2-40B4-BE49-F238E27FC236}">
                <a16:creationId xmlns:a16="http://schemas.microsoft.com/office/drawing/2014/main" id="{6B7E88C7-A867-4C77-9143-A2F7CC14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4668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개인 브랜치 확인</a:t>
            </a:r>
          </a:p>
        </p:txBody>
      </p:sp>
      <p:sp>
        <p:nvSpPr>
          <p:cNvPr id="6" name="git-rule-0">
            <a:extLst xmlns:a="http://schemas.openxmlformats.org/drawingml/2006/main">
              <a:ext uri="{FF2B5EF4-FFF2-40B4-BE49-F238E27FC236}">
                <a16:creationId xmlns:a16="http://schemas.microsoft.com/office/drawing/2014/main" id="{92FCE789-08BA-4A8B-AC4F-132129D3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002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it-num-1">
            <a:extLst xmlns:a="http://schemas.openxmlformats.org/drawingml/2006/main">
              <a:ext uri="{FF2B5EF4-FFF2-40B4-BE49-F238E27FC236}">
                <a16:creationId xmlns:a16="http://schemas.microsoft.com/office/drawing/2014/main" id="{8C6BEB60-0AF9-4616-8C57-CABE02F6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8" name="git-step-1">
            <a:extLst xmlns:a="http://schemas.openxmlformats.org/drawingml/2006/main">
              <a:ext uri="{FF2B5EF4-FFF2-40B4-BE49-F238E27FC236}">
                <a16:creationId xmlns:a16="http://schemas.microsoft.com/office/drawing/2014/main" id="{568B2D9B-58E7-4BB0-AF32-E7073A6C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프로그램 실행 확인</a:t>
            </a:r>
          </a:p>
        </p:txBody>
      </p:sp>
      <p:sp>
        <p:nvSpPr>
          <p:cNvPr id="9" name="git-rule-1">
            <a:extLst xmlns:a="http://schemas.openxmlformats.org/drawingml/2006/main">
              <a:ext uri="{FF2B5EF4-FFF2-40B4-BE49-F238E27FC236}">
                <a16:creationId xmlns:a16="http://schemas.microsoft.com/office/drawing/2014/main" id="{D399D3CC-3F81-4267-9FF5-CD4666C8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813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it-num-2">
            <a:extLst xmlns:a="http://schemas.openxmlformats.org/drawingml/2006/main">
              <a:ext uri="{FF2B5EF4-FFF2-40B4-BE49-F238E27FC236}">
                <a16:creationId xmlns:a16="http://schemas.microsoft.com/office/drawing/2014/main" id="{C3740D12-4338-4172-AD3C-7BFD3FF8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1" name="git-step-2">
            <a:extLst xmlns:a="http://schemas.openxmlformats.org/drawingml/2006/main">
              <a:ext uri="{FF2B5EF4-FFF2-40B4-BE49-F238E27FC236}">
                <a16:creationId xmlns:a16="http://schemas.microsoft.com/office/drawing/2014/main" id="{D9927815-7288-4C58-8238-7469A7D1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289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변경 파일 확인</a:t>
            </a:r>
          </a:p>
        </p:txBody>
      </p:sp>
      <p:sp>
        <p:nvSpPr>
          <p:cNvPr id="12" name="git-rule-2">
            <a:extLst xmlns:a="http://schemas.openxmlformats.org/drawingml/2006/main">
              <a:ext uri="{FF2B5EF4-FFF2-40B4-BE49-F238E27FC236}">
                <a16:creationId xmlns:a16="http://schemas.microsoft.com/office/drawing/2014/main" id="{AA566333-50BD-4953-ABD6-03A0F068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623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it-num-3">
            <a:extLst xmlns:a="http://schemas.openxmlformats.org/drawingml/2006/main">
              <a:ext uri="{FF2B5EF4-FFF2-40B4-BE49-F238E27FC236}">
                <a16:creationId xmlns:a16="http://schemas.microsoft.com/office/drawing/2014/main" id="{6B9D19DC-A29D-447B-A7EF-A00B5EAA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4" name="git-step-3">
            <a:extLst xmlns:a="http://schemas.openxmlformats.org/drawingml/2006/main">
              <a:ext uri="{FF2B5EF4-FFF2-40B4-BE49-F238E27FC236}">
                <a16:creationId xmlns:a16="http://schemas.microsoft.com/office/drawing/2014/main" id="{38CAFDEC-3F3C-4B90-9D67-4473296C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100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commit 작성</a:t>
            </a:r>
          </a:p>
        </p:txBody>
      </p:sp>
      <p:sp>
        <p:nvSpPr>
          <p:cNvPr id="15" name="git-rule-3">
            <a:extLst xmlns:a="http://schemas.openxmlformats.org/drawingml/2006/main">
              <a:ext uri="{FF2B5EF4-FFF2-40B4-BE49-F238E27FC236}">
                <a16:creationId xmlns:a16="http://schemas.microsoft.com/office/drawing/2014/main" id="{78BA8B09-9F8E-4F4D-96F6-A7342174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434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it-num-4">
            <a:extLst xmlns:a="http://schemas.openxmlformats.org/drawingml/2006/main">
              <a:ext uri="{FF2B5EF4-FFF2-40B4-BE49-F238E27FC236}">
                <a16:creationId xmlns:a16="http://schemas.microsoft.com/office/drawing/2014/main" id="{C5C2EF41-DC64-482C-8CD0-9B10C73A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" name="git-step-4">
            <a:extLst xmlns:a="http://schemas.openxmlformats.org/drawingml/2006/main">
              <a:ext uri="{FF2B5EF4-FFF2-40B4-BE49-F238E27FC236}">
                <a16:creationId xmlns:a16="http://schemas.microsoft.com/office/drawing/2014/main" id="{56C69C09-876B-40AB-A2E9-0180C36C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910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원격 저장소로 push</a:t>
            </a:r>
          </a:p>
        </p:txBody>
      </p:sp>
      <p:sp>
        <p:nvSpPr>
          <p:cNvPr id="18" name="git-message">
            <a:extLst xmlns:a="http://schemas.openxmlformats.org/drawingml/2006/main">
              <a:ext uri="{FF2B5EF4-FFF2-40B4-BE49-F238E27FC236}">
                <a16:creationId xmlns:a16="http://schemas.microsoft.com/office/drawing/2014/main" id="{AC7A7B87-F739-4C28-A27D-32A8D4A4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commit: feat: add console battle game</a:t>
            </a:r>
          </a:p>
        </p:txBody>
      </p:sp>
    </p:spTree>
    <p:extLst>
      <p:ext uri="{BB962C8B-B14F-4D97-AF65-F5344CB8AC3E}">
        <p14:creationId xmlns:p14="http://schemas.microsoft.com/office/powerpoint/2010/main" val="19718665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2026-08-28T07:34:28.4050000Z</dcterms:created>
  <dcterms:modified xsi:type="dcterms:W3CDTF">2026-08-28T07:34:28.4050000Z</dcterms:modified>
</coreProperties>
</file>